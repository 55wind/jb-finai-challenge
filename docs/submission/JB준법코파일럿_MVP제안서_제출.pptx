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78BA"/>
    <a:srgbClr val="2691C5"/>
    <a:srgbClr val="FFFFFF"/>
    <a:srgbClr val="204B90"/>
    <a:srgbClr val="C12026"/>
    <a:srgbClr val="004889"/>
    <a:srgbClr val="004687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82645" y="1766158"/>
            <a:ext cx="960466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JB</a:t>
            </a:r>
            <a:r>
              <a:rPr lang="ko-KR" altLang="en-US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금융그룹 </a:t>
            </a:r>
            <a:r>
              <a:rPr lang="en-US" altLang="ko-KR" sz="4000" b="0" i="0" dirty="0" err="1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Fin:AI</a:t>
            </a: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 Challenge</a:t>
            </a:r>
            <a:endParaRPr lang="en-US" altLang="ko-KR" sz="40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53809264"/>
              </p:ext>
            </p:extLst>
          </p:nvPr>
        </p:nvGraphicFramePr>
        <p:xfrm>
          <a:off x="3386675" y="4470435"/>
          <a:ext cx="5418650" cy="899000"/>
        </p:xfrm>
        <a:graphic>
          <a:graphicData uri="http://schemas.openxmlformats.org/drawingml/2006/table">
            <a:tbl>
              <a:tblPr firstRow="1" bandRow="1">
                <a:noFill/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(참가 팀명 기입)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서비스명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JB 준법 코파일럿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31980"/>
                  </a:ext>
                </a:extLst>
              </a:tr>
            </a:tbl>
          </a:graphicData>
        </a:graphic>
      </p:graphicFrame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"/>
          <p:cNvCxnSpPr>
            <a:cxnSpLocks/>
          </p:cNvCxnSpPr>
          <p:nvPr/>
        </p:nvCxnSpPr>
        <p:spPr>
          <a:xfrm>
            <a:off x="1582645" y="2607351"/>
            <a:ext cx="9508142" cy="0"/>
          </a:xfrm>
          <a:prstGeom prst="straightConnector1">
            <a:avLst/>
          </a:prstGeom>
          <a:noFill/>
          <a:ln w="38100" cap="flat" cmpd="sng">
            <a:solidFill>
              <a:srgbClr val="204B9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691C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843A480D-A23F-1A8F-080E-E9B0778DF5F8}"/>
              </a:ext>
            </a:extLst>
          </p:cNvPr>
          <p:cNvSpPr txBox="1"/>
          <p:nvPr/>
        </p:nvSpPr>
        <p:spPr>
          <a:xfrm>
            <a:off x="4645457" y="2802248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MVP </a:t>
            </a:r>
            <a:r>
              <a:rPr lang="ko-KR" altLang="en-US" sz="2800">
                <a:solidFill>
                  <a:srgbClr val="20212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제안</a:t>
            </a:r>
            <a:r>
              <a:rPr lang="ko-KR" altLang="en-US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B2209C-6979-9157-1F5A-B28B3C592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77535"/>
              </p:ext>
            </p:extLst>
          </p:nvPr>
        </p:nvGraphicFramePr>
        <p:xfrm>
          <a:off x="744427" y="1145754"/>
          <a:ext cx="10776155" cy="469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(참가 팀명 기입)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(개인/팀원 성명 기입)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서비스명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JB 준법 코파일럿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주제 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지정주제 2. 준법자문가 AI Agent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938048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소비자가 오해하기 전에 — 작성 시점에 오인을 차단하는 온프레미스 준법자문 AI Agent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99;p2">
            <a:extLst>
              <a:ext uri="{FF2B5EF4-FFF2-40B4-BE49-F238E27FC236}">
                <a16:creationId xmlns:a16="http://schemas.microsoft.com/office/drawing/2014/main" id="{042EBB0F-0210-2C73-6523-51C3A0EB055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101;p2">
            <a:extLst>
              <a:ext uri="{FF2B5EF4-FFF2-40B4-BE49-F238E27FC236}">
                <a16:creationId xmlns:a16="http://schemas.microsoft.com/office/drawing/2014/main" id="{9F08DF74-238C-9073-1522-54C6B39AB5F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02;p2">
            <a:extLst>
              <a:ext uri="{FF2B5EF4-FFF2-40B4-BE49-F238E27FC236}">
                <a16:creationId xmlns:a16="http://schemas.microsoft.com/office/drawing/2014/main" id="{92B34A29-70DB-0172-C890-5E355A3C66E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1. 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Google Shape;100;p2">
            <a:extLst>
              <a:ext uri="{FF2B5EF4-FFF2-40B4-BE49-F238E27FC236}">
                <a16:creationId xmlns:a16="http://schemas.microsoft.com/office/drawing/2014/main" id="{FF712513-FC6B-0394-BE94-BD6FA584D466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Google Shape;92;p1">
            <a:extLst>
              <a:ext uri="{FF2B5EF4-FFF2-40B4-BE49-F238E27FC236}">
                <a16:creationId xmlns:a16="http://schemas.microsoft.com/office/drawing/2014/main" id="{2F4A3070-AD69-96C2-8039-2626E5B048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F1CCC0-1626-4345-F4D7-A3CC2416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277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문제 정의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69F5F16A-E189-D103-8849-37E8D603F1C8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F507B-AE97-543C-09EA-F8D8E5D08465}"/>
              </a:ext>
            </a:extLst>
          </p:cNvPr>
          <p:cNvSpPr txBox="1"/>
          <p:nvPr/>
        </p:nvSpPr>
        <p:spPr>
          <a:xfrm>
            <a:off x="2664541" y="1957156"/>
            <a:ext cx="7541342" cy="4206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350"/>
              <a:t>· 사후·수작업 심의 병목 — 은행 광고는 게시 전 준법감시인 사전심의 의무(금소법 §22). 현실은 '초안→수일 대기→수작업 심의→반려·재작성' 왕복으로 적시성 손실.</a:t>
            </a:r>
          </a:p>
          <a:p>
            <a:pPr>
              <a:spcAft>
                <a:spcPts val="400"/>
              </a:spcAft>
            </a:pPr>
            <a:r>
              <a:rPr sz="1350"/>
              <a:t>· '합법이지만 오해를 부르는' 사각지대 — 규정 문구만 점검하면 통과해도 고령자·외국인이 실제로 오해하는 표현은 못 거름 → 불완전판매·민원. 규제의 본질은 '오인 방지'.</a:t>
            </a:r>
          </a:p>
          <a:p>
            <a:pPr>
              <a:spcAft>
                <a:spcPts val="400"/>
              </a:spcAft>
            </a:pPr>
            <a:r>
              <a:rPr sz="1350"/>
              <a:t>· 제재 리스크 직결 — 금소법 §22 위반 광고는 과징금·기관제재 대상. 광고 1건이 분쟁의 시작점.</a:t>
            </a:r>
          </a:p>
          <a:p>
            <a:pPr>
              <a:spcAft>
                <a:spcPts val="400"/>
              </a:spcAft>
            </a:pPr>
            <a:r>
              <a:rPr sz="1350"/>
              <a:t>· 대상 사용자 — 마케팅·지점 담당자(작성), 준법감시인(검토·승인), (간접) 금융소비자.</a:t>
            </a:r>
          </a:p>
          <a:p>
            <a:pPr>
              <a:spcAft>
                <a:spcPts val="400"/>
              </a:spcAft>
            </a:pPr>
            <a:r>
              <a:rPr sz="1350"/>
              <a:t>· JB 관점 — 지역 밀착 마케팅 빈도 ↑ + 전북 외국인 고객 증가로 다국어 수요 ↑, 심의 인력은 한정.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C68CEE-9277-FB0E-5D76-605741218C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DD13D667-F1EF-84F5-EED9-A9EDD3C109E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E8D2E638-900C-0A23-9832-99EFC1069729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5133C3B-FA3E-F0AB-0179-24B10C81060A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61296DF9-B7FF-0591-294E-C089D51449C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1F100A-A05D-DBAD-2AD7-53EFD88E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1803-0BCB-CDD6-42D3-235F3A36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6A8299-6D51-DAF9-3F23-456F5D4538B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76D45-1367-695A-8B79-BFC4D4D7BA5B}"/>
              </a:ext>
            </a:extLst>
          </p:cNvPr>
          <p:cNvSpPr txBox="1"/>
          <p:nvPr/>
        </p:nvSpPr>
        <p:spPr>
          <a:xfrm>
            <a:off x="939332" y="1189703"/>
            <a:ext cx="3386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1D14950D-817F-F6EB-EF9A-D1112359DB8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8D5AACD-782A-F75A-7057-CC33540D6F74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3B1F9-D3F2-5329-8A08-D8762AD85FE0}"/>
              </a:ext>
            </a:extLst>
          </p:cNvPr>
          <p:cNvSpPr txBox="1"/>
          <p:nvPr/>
        </p:nvSpPr>
        <p:spPr>
          <a:xfrm>
            <a:off x="2664541" y="1957156"/>
            <a:ext cx="7541342" cy="1737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250"/>
              <a:t>· 작성 시점에 작동하는 온프레미스 준법 AI Agent. 명시적 파이프라인: ①유형분류 → (②RAG ∥ ③룰엔진) → (④LLM 심의 ∥ ⑤오인 시뮬레이터) → ⑥리포트 → ⑦⑧승인·감사 + ★오토파일럿.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Aft>
                <a:spcPts val="400"/>
              </a:spcAft>
            </a:pPr>
            <a:r>
              <a:rPr sz="1250"/>
              <a:t>· 신뢰 모델 — 결정적 룰엔진이 등급 권위, LLM은 보조(인용은 검색 조항 제한·출력은 룰엔진 검증) → 환각이 등급을 좌우 못 함. LLM은 Ollama(Qwen2.5-7B), 미연결 시 룰 기반 폴백.</a:t>
            </a:r>
          </a:p>
          <a:p>
            <a:pPr>
              <a:spcAft>
                <a:spcPts val="400"/>
              </a:spcAft>
            </a:pPr>
            <a:r>
              <a:rPr sz="1250"/>
              <a:t>· 망분리 3-Zone(아래) — 내부망(심의 코어, 데이터 외부 유출 0) · DMZ(망연계 게이트웨이) · 외부망(법제처·발송채널·코어뱅킹, 어댑터 교체).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233CF2AF-1B9B-3631-BC06-AD7510F434F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3BB4E210-05A3-8500-833B-493E20BFD22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159738A-FC36-C4DB-30D8-91402075865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857A5BB-5018-1C11-40B9-97290B090E61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3A9837C3-DD0A-3D3B-B638-64B3302775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0AE3F27-92C5-02B1-FF71-7807DD32A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pic>
        <p:nvPicPr>
          <p:cNvPr id="18" name="Picture 17" descr="arch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3703320"/>
            <a:ext cx="7498079" cy="282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8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C246-B742-4CC5-4DE1-3D3A549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7D249F0-0136-43E2-7E93-8F61EA5FFA04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9B714-0CA5-94B7-0D36-144E9F422B5C}"/>
              </a:ext>
            </a:extLst>
          </p:cNvPr>
          <p:cNvSpPr txBox="1"/>
          <p:nvPr/>
        </p:nvSpPr>
        <p:spPr>
          <a:xfrm>
            <a:off x="939332" y="1189703"/>
            <a:ext cx="2796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주요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21EE5127-5102-7956-BFA7-7895865F1915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7A9B20E-0365-DB76-C6A1-A82BF7552CE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F62E8-93AF-B710-4D80-CB1BA79AD5F5}"/>
              </a:ext>
            </a:extLst>
          </p:cNvPr>
          <p:cNvSpPr txBox="1"/>
          <p:nvPr/>
        </p:nvSpPr>
        <p:spPr>
          <a:xfrm>
            <a:off x="2664541" y="1957156"/>
            <a:ext cx="7541342" cy="4206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350"/>
              <a:t>· ★소비자 오인 시뮬레이터(헤드라인) — 고령자·금융초보·외국인 페르소나가 1인칭으로 오해 재현 + 유발문구 + 규제 조항.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Aft>
                <a:spcPts val="400"/>
              </a:spcAft>
            </a:pPr>
            <a:r>
              <a:rPr sz="1350"/>
              <a:t>· ★준법 오토파일럿 — 위반 초안을 통과/종료조건까지 자율 개선(룰엔진이 합격 검증, 게시는 사람 승인).</a:t>
            </a:r>
          </a:p>
          <a:p>
            <a:pPr>
              <a:spcAft>
                <a:spcPts val="400"/>
              </a:spcAft>
            </a:pPr>
            <a:r>
              <a:rPr sz="1350"/>
              <a:t>· 작성시점 실시간 예방(룰 0.03초→LLM 보강) · 규제 근거 RAG + 법률 참조 그래프 · 룰엔진 결정적 심의.</a:t>
            </a:r>
          </a:p>
          <a:p>
            <a:pPr>
              <a:spcAft>
                <a:spcPts val="400"/>
              </a:spcAft>
            </a:pPr>
            <a:r>
              <a:rPr sz="1350"/>
              <a:t>· 내부 심의기준(내규) 자연어→룰 변환 · 규제 자동 추적·룰 제안 · 준법관리자 승인+감사로그(확증편향 방지).</a:t>
            </a:r>
          </a:p>
          <a:p>
            <a:pPr>
              <a:spcAft>
                <a:spcPts val="400"/>
              </a:spcAft>
            </a:pPr>
            <a:r>
              <a:rPr sz="1350"/>
              <a:t>· 마케팅 배포 Last-Mile(채널 자동 발송) · 다국어 생성·재심의+신뢰도 방어 · 상품 DB 연동(코어뱅킹).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B1350C5-8319-6983-B16E-22480553B209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7E7F1CC-8A52-054C-1D46-3762F4542CE9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5B08C8C1-2BAB-D8AA-20BE-0327E50B28A8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CE2EA03-7386-45E6-06B4-031FC4A4B11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27C3F581-9604-F61B-A136-EF77720F32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DE36F9-BC8E-801E-6E7C-0D03E6A9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1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D8DB-3443-A102-9C42-2C56691F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43A085-6411-0EFC-A699-01660D683A67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6FF1F-0E89-66A7-7227-BC7AA6E81C3C}"/>
              </a:ext>
            </a:extLst>
          </p:cNvPr>
          <p:cNvSpPr txBox="1"/>
          <p:nvPr/>
        </p:nvSpPr>
        <p:spPr>
          <a:xfrm>
            <a:off x="939332" y="1189703"/>
            <a:ext cx="3966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</a:t>
            </a:r>
            <a:r>
              <a:rPr lang="en-US" altLang="ko-KR" dirty="0">
                <a:latin typeface="+mj-ea"/>
                <a:ea typeface="+mj-ea"/>
              </a:rPr>
              <a:t>(Data &amp; Tech)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6E9B4B97-E58C-7529-3DC0-F31DEFF65D1B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FA49E26B-9CE5-618A-B798-389BF794A1C3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3CA2B-7F81-268B-9F89-96F81CA76BDD}"/>
              </a:ext>
            </a:extLst>
          </p:cNvPr>
          <p:cNvSpPr txBox="1"/>
          <p:nvPr/>
        </p:nvSpPr>
        <p:spPr>
          <a:xfrm>
            <a:off x="2664541" y="1957156"/>
            <a:ext cx="7541342" cy="4206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350"/>
              <a:t>· LLM: Qwen2.5-7B-Instruct(Ollama·Apache 2.0·온프레미스). RAG: 어휘검색+BGE-m3(MIT). 룰엔진: YAML+정규식. 백엔드/저장소: FastAPI·SQLite.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Aft>
                <a:spcPts val="400"/>
              </a:spcAft>
            </a:pPr>
            <a:r>
              <a:rPr sz="1350"/>
              <a:t>· 데이터 — 실제 규제(금소법 §22, 표시광고법 §3, 자본시장법, 심사지침, 협회 규정; 국가법령정보센터) 기반. 내용은 실제 규제 취지를 정확히 반영.</a:t>
            </a:r>
          </a:p>
          <a:p>
            <a:pPr>
              <a:spcAft>
                <a:spcPts val="400"/>
              </a:spcAft>
            </a:pPr>
            <a:r>
              <a:rPr sz="1350"/>
              <a:t>· 시연용 가상 데이터 — JB 내부기준·규제 변경 피드·상품 카탈로그(운영 시 실제 내규/법제처 OpenAPI/코어뱅킹 API로 교체하는 어댑터 슬롯).</a:t>
            </a:r>
          </a:p>
          <a:p>
            <a:pPr>
              <a:spcAft>
                <a:spcPts val="400"/>
              </a:spcAft>
            </a:pPr>
            <a:r>
              <a:rPr sz="1350"/>
              <a:t>· 환각·책임·보안 방어 — 인용 화이트리스트·룰엔진 권위·휴먼인더루프·감사로그·비영어권 신뢰도 플래그·망분리. 상용 API 미사용(온프레미스).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079A4C84-B810-1D03-C217-CA40A93EBF1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EFA25AC-315F-E1A0-5965-0ADA362A1ED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3FB278B-321F-4FD4-1029-71569634D73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298532A-6309-4CFB-816D-A1D013C9D5D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4A83B29B-6384-C7B9-B0DB-6ACE6911922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A87DCD-64A0-C1AB-3174-F4C46EFF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5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2E15-49DB-DBA2-9F76-5D086ABD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9093888-EE73-841E-FF7E-3153D90098A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5450A-C406-F66D-7246-8B3CE4B5F9FE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Scenario)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66DB5E4-99DB-B891-A402-F82B9BBE882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BF138AD5-46CB-5ED6-B503-1D82E8C6040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6.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Scenario)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EDF22-ED3F-743F-2090-BF83570103E1}"/>
              </a:ext>
            </a:extLst>
          </p:cNvPr>
          <p:cNvSpPr txBox="1"/>
          <p:nvPr/>
        </p:nvSpPr>
        <p:spPr>
          <a:xfrm>
            <a:off x="2664541" y="1957156"/>
            <a:ext cx="7541342" cy="4206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250"/>
              <a:t>① [상시] 규제 자동 추적 — 규제 피드(운영: 법제처 OpenAPI) 변경 감지 → 영향분석 → 룰 제안 → 준법감시인 승인으로 룰셋 최신화.</a:t>
            </a:r>
          </a:p>
          <a:p>
            <a:pPr>
              <a:spcAft>
                <a:spcPts val="400"/>
              </a:spcAft>
            </a:pPr>
            <a:r>
              <a:rPr sz="1250"/>
              <a:t>② [작성] 상품코드 선택 시 상품조건 자동 주입 · 멈추면 즉시 룰 검사 → LLM 보강 · 헤드라인에 '소비자 오해'가 작성 시점에 표시.</a:t>
            </a:r>
          </a:p>
          <a:p>
            <a:pPr>
              <a:spcAft>
                <a:spcPts val="400"/>
              </a:spcAft>
            </a:pPr>
            <a:r>
              <a:rPr sz="1250"/>
              <a:t>③ [자가 개선] 오토파일럿으로 통과까지 자율 수정(법규+JB 내규 동시 적용).</a:t>
            </a:r>
          </a:p>
          <a:p>
            <a:pPr>
              <a:spcAft>
                <a:spcPts val="400"/>
              </a:spcAft>
            </a:pPr>
            <a:r>
              <a:rPr sz="1250"/>
              <a:t>④ [검토·승인] 준법감시인이 AI 1차심의 근거로 승인/반려(원문 직접 검토 확인) → 감사로그 영구 기록.</a:t>
            </a:r>
          </a:p>
          <a:p>
            <a:pPr>
              <a:spcAft>
                <a:spcPts val="400"/>
              </a:spcAft>
            </a:pPr>
            <a:r>
              <a:rPr sz="1250"/>
              <a:t>⑤ [배포 연계] 승인본을 채널(푸시·SMS·이메일·SNS·CRM)로 자동 발송(미승인 차단), 'AI 자동개선→사람 승인→시스템 배포' 분리 기록.</a:t>
            </a:r>
          </a:p>
          <a:p>
            <a:pPr>
              <a:spcAft>
                <a:spcPts val="400"/>
              </a:spcAft>
            </a:pPr>
            <a:r>
              <a:rPr sz="1250"/>
              <a:t>⑥ [다국어] 전북 외국인 고객용 외국어 버전 생성·재심의(오역 검출·신뢰도 방어).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4F08504B-62BA-7251-2E25-26E6287BEF1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63EA3688-0705-1D30-C6B6-8371FE7270DF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3A377AC2-CD2F-4E5E-BFEF-BC152D4D8A94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DE75EC79-02E8-59C5-C459-D64C66C7424C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ADDEC6D0-1DC9-520B-6922-5931B04956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9C5A4A6-1242-C668-4A8A-4203C179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8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D1B5-3FFF-C59F-69EE-822AEA56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D838C0B-5529-7B58-FED5-6071DAD928C6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AB4B5-2738-A943-FE29-A76A05493367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9953E83-E407-B61E-5E64-17F3EA50FCB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092B5F58-4C29-C5F8-0720-9DFB3E434D6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B945E-9ECE-D3DA-6C68-E94316447AE9}"/>
              </a:ext>
            </a:extLst>
          </p:cNvPr>
          <p:cNvSpPr txBox="1"/>
          <p:nvPr/>
        </p:nvSpPr>
        <p:spPr>
          <a:xfrm>
            <a:off x="2664541" y="1957156"/>
            <a:ext cx="7541342" cy="4206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350"/>
              <a:t>· 기대 효과 — 업무효율(초벌심의 자동화→판단 집중) · 리스크 감소(오인 시뮬레이터로 '합법이지만 오해' 가시화) · 고객가치(취약계층 보호) · 수익기회(적시성) · 그룹 AX 부합.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Aft>
                <a:spcPts val="400"/>
              </a:spcAft>
            </a:pPr>
            <a:r>
              <a:rPr sz="1350"/>
              <a:t>· 확장성 — 계열사(광주은행·캐피탈·자산운용) · 콘텐츠 유형(카드·이벤트·보험) · 언어(베트남어·중국어) · 채널(사내 결재·CMS) · 영역(약관·상품설명서·콜센터 스크립트).</a:t>
            </a:r>
          </a:p>
          <a:p>
            <a:pPr>
              <a:spcAft>
                <a:spcPts val="400"/>
              </a:spcAft>
            </a:pPr>
            <a:r>
              <a:rPr sz="1350"/>
              <a:t>· 발전 경로 — PoC(과거 심의 50~100건 블라인드 비교·정밀도/재현율) → 파일럿(1개 부서 병행) → 내부 적용 → 그룹 공통 Compliance AI 플랫폼.</a:t>
            </a:r>
          </a:p>
          <a:p>
            <a:pPr>
              <a:spcAft>
                <a:spcPts val="400"/>
              </a:spcAft>
            </a:pPr>
            <a:r>
              <a:rPr sz="1350"/>
              <a:t>· 운영 연동 — 규제 피드→법제처 OpenAPI · 발송→FCM/SNS/알림톡 · 상품→코어뱅킹 API (어댑터 교체, 망연계 게이트웨이 경유).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B426FE-2A85-BFED-59A8-9822F9722ABB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99;p2">
            <a:extLst>
              <a:ext uri="{FF2B5EF4-FFF2-40B4-BE49-F238E27FC236}">
                <a16:creationId xmlns:a16="http://schemas.microsoft.com/office/drawing/2014/main" id="{4BB48182-34C6-3BEE-3AA6-D59D120B867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60DD28D2-AA4F-BDB2-A975-8313F18BD5A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A38C2A3A-1116-CB84-87A3-7D297146A592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1FC3F817-B0A9-AE3C-6E77-6617FE6266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CF8A7C-3BAD-7322-7C02-7E75424A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377</Words>
  <Application>Microsoft Office PowerPoint</Application>
  <PresentationFormat>와이드스크린</PresentationFormat>
  <Paragraphs>66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Pretendard_KR</vt:lpstr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47</cp:revision>
  <dcterms:created xsi:type="dcterms:W3CDTF">2024-05-21T00:00:56Z</dcterms:created>
  <dcterms:modified xsi:type="dcterms:W3CDTF">2026-05-11T00:07:25Z</dcterms:modified>
</cp:coreProperties>
</file>