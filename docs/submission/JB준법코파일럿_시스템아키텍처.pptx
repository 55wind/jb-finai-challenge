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03A6E"/>
                </a:solidFill>
                <a:latin typeface="Malgun Gothic"/>
              </a:rPr>
              <a:t>JB 준법 코파일럿 - 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4944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470"/>
                </a:solidFill>
                <a:latin typeface="Malgun Gothic"/>
              </a:rPr>
              <a:t>사용자 · 프론트엔드 · 백엔드 API · AI Agent/모델 · DB/외부연동 - 전 과정 온프레미스 · 휴먼인더루프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24128"/>
            <a:ext cx="11365992" cy="31750"/>
          </a:xfrm>
          <a:prstGeom prst="rect">
            <a:avLst/>
          </a:prstGeom>
          <a:solidFill>
            <a:srgbClr val="005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627632"/>
            <a:ext cx="1920240" cy="224028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3736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B6470"/>
                </a:solidFill>
                <a:latin typeface="Malgun Gothic"/>
              </a:rPr>
              <a:t>[사용자]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" y="2139696"/>
            <a:ext cx="1627632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A1D21"/>
                </a:solidFill>
                <a:latin typeface="Malgun Gothic"/>
              </a:rPr>
              <a:t>마케팅·지점 담당자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금융 콘텐츠 초안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작성(실시간)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" y="2980944"/>
            <a:ext cx="1627632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5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A1D21"/>
                </a:solidFill>
                <a:latin typeface="Malgun Gothic"/>
              </a:rPr>
              <a:t>준법관리자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준법감시부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검토·승인(HITL)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32304" y="2560320"/>
            <a:ext cx="420624" cy="384048"/>
          </a:xfrm>
          <a:prstGeom prst="right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1627632"/>
            <a:ext cx="2377440" cy="2240280"/>
          </a:xfrm>
          <a:prstGeom prst="roundRect">
            <a:avLst/>
          </a:prstGeom>
          <a:solidFill>
            <a:srgbClr val="EAFAF0"/>
          </a:solidFill>
          <a:ln w="15875">
            <a:solidFill>
              <a:srgbClr val="0F9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73736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9D58"/>
                </a:solidFill>
                <a:latin typeface="Malgun Gothic"/>
              </a:rPr>
              <a:t>[프론트엔드 / UI]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48256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정적 SPA · 바닐라 JS (FastAPI 서빙)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322576"/>
            <a:ext cx="2084832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D21"/>
                </a:solidFill>
                <a:latin typeface="Malgun Gothic"/>
              </a:rPr>
              <a:t>심의 워크스페이스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72384" y="2688336"/>
            <a:ext cx="2084832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오인 시뮬레이터 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72384" y="3054096"/>
            <a:ext cx="2084832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D21"/>
                </a:solidFill>
                <a:latin typeface="Malgun Gothic"/>
              </a:rPr>
              <a:t>준법관리자 승인 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72384" y="3419856"/>
            <a:ext cx="2084832" cy="3108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E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A1D21"/>
                </a:solidFill>
                <a:latin typeface="Malgun Gothic"/>
              </a:rPr>
              <a:t>감사로그 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94960" y="2560320"/>
            <a:ext cx="420624" cy="384048"/>
          </a:xfrm>
          <a:prstGeom prst="right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2267712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6470"/>
                </a:solidFill>
                <a:latin typeface="Malgun Gothic"/>
              </a:rPr>
              <a:t>REST(JSON)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1371600"/>
            <a:ext cx="5925312" cy="3657600"/>
          </a:xfrm>
          <a:prstGeom prst="roundRect">
            <a:avLst/>
          </a:prstGeom>
          <a:solidFill>
            <a:srgbClr val="FAF8FF"/>
          </a:solidFill>
          <a:ln w="1587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16752" y="1490472"/>
            <a:ext cx="5596128" cy="274320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529B"/>
                </a:solidFill>
                <a:latin typeface="Malgun Gothic"/>
              </a:rPr>
              <a:t>[백엔드 / Backend]  FastAPI (app/main.py) · 온프레미스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1828800"/>
            <a:ext cx="5596128" cy="256032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B3BBF"/>
                </a:solidFill>
                <a:latin typeface="Malgun Gothic"/>
              </a:rPr>
              <a:t>AI Agent · Orchestrator - 명시적 파이썬 파이프라인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16752" y="2139696"/>
            <a:ext cx="760258" cy="84124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(1)분류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B7480"/>
                </a:solidFill>
                <a:latin typeface="Malgun Gothic"/>
              </a:rPr>
              <a:t>결정적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8722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22730" y="2139696"/>
            <a:ext cx="760258" cy="841248"/>
          </a:xfrm>
          <a:prstGeom prst="roundRect">
            <a:avLst/>
          </a:prstGeom>
          <a:solidFill>
            <a:srgbClr val="E7F6EE"/>
          </a:solidFill>
          <a:ln w="9525">
            <a:solidFill>
              <a:srgbClr val="0F9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(2)RAG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9D58"/>
                </a:solidFill>
                <a:latin typeface="Malgun Gothic"/>
              </a:rPr>
              <a:t>BGE-m3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4700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28708" y="2139696"/>
            <a:ext cx="760258" cy="84124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(3)룰엔진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B7480"/>
                </a:solidFill>
                <a:latin typeface="Malgun Gothic"/>
              </a:rPr>
              <a:t>결정적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0678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4686" y="2139696"/>
            <a:ext cx="760258" cy="841248"/>
          </a:xfrm>
          <a:prstGeom prst="roundRect">
            <a:avLst/>
          </a:prstGeom>
          <a:solidFill>
            <a:srgbClr val="EFEAFF"/>
          </a:solidFill>
          <a:ln w="952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(4)LLM심의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3BBF"/>
                </a:solidFill>
                <a:latin typeface="Malgun Gothic"/>
              </a:rPr>
              <a:t>Ollama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6656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40664" y="2139696"/>
            <a:ext cx="760258" cy="841248"/>
          </a:xfrm>
          <a:prstGeom prst="roundRect">
            <a:avLst/>
          </a:prstGeom>
          <a:solidFill>
            <a:srgbClr val="EFEAFF"/>
          </a:solidFill>
          <a:ln w="952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(5)시뮬레이터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3BBF"/>
                </a:solidFill>
                <a:latin typeface="Malgun Gothic"/>
              </a:rPr>
              <a:t>Ollama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2634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46642" y="2139696"/>
            <a:ext cx="760258" cy="84124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(6)리포트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B7480"/>
                </a:solidFill>
                <a:latin typeface="Malgun Gothic"/>
              </a:rPr>
              <a:t>결정적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8612" y="2139696"/>
            <a:ext cx="91440" cy="84124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B6470"/>
                </a:solidFill>
                <a:latin typeface="Malgun Gothic"/>
              </a:rPr>
              <a:t>&gt;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52620" y="2139696"/>
            <a:ext cx="760258" cy="84124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A1D21"/>
                </a:solidFill>
                <a:latin typeface="Malgun Gothic"/>
              </a:rPr>
              <a:t>(7,8)승인·감사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1A1D21"/>
                </a:solidFill>
                <a:latin typeface="Malgun Gothic"/>
              </a:rPr>
              <a:t>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B7480"/>
                </a:solidFill>
                <a:latin typeface="Malgun Gothic"/>
              </a:rPr>
              <a:t>결정적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16752" y="3072384"/>
            <a:ext cx="5596128" cy="438912"/>
          </a:xfrm>
          <a:prstGeom prst="roundRect">
            <a:avLst/>
          </a:prstGeom>
          <a:solidFill>
            <a:srgbClr val="EFEAFF"/>
          </a:solidFill>
          <a:ln w="952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5B3BBF"/>
                </a:solidFill>
                <a:latin typeface="Malgun Gothic"/>
              </a:rPr>
              <a:t>* 준법 오토파일럿</a:t>
            </a:r>
            <a:r>
              <a:rPr sz="1000" b="0">
                <a:solidFill>
                  <a:srgbClr val="5B6470"/>
                </a:solidFill>
                <a:latin typeface="Malgun Gothic"/>
              </a:rPr>
              <a:t>  판단-&gt;고쳐쓰기-&gt;재심의 자율 개선 루프 (Ollama)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16752" y="3602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03A6E"/>
                </a:solidFill>
                <a:latin typeface="Malgun Gothic"/>
              </a:rPr>
              <a:t>[엔진] 어느 모델이 어느 단계에 쓰이나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3877056"/>
            <a:ext cx="2606040" cy="338328"/>
          </a:xfrm>
          <a:prstGeom prst="roundRect">
            <a:avLst/>
          </a:prstGeom>
          <a:solidFill>
            <a:srgbClr val="EFEAFF"/>
          </a:solidFill>
          <a:ln w="9525">
            <a:solidFill>
              <a:srgbClr val="5B3B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3BBF"/>
                </a:solidFill>
                <a:latin typeface="Malgun Gothic"/>
              </a:rPr>
              <a:t>Ollama · Qwen2.5-7B (LLM 추론)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41664" y="3877056"/>
            <a:ext cx="2871216" cy="33832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1A1D21"/>
                </a:solidFill>
                <a:latin typeface="Malgun Gothic"/>
              </a:rPr>
              <a:t>-&gt; (4)LLM 심의 · (5)오인 시뮬레이터 · *오토파일럿 · 내규 변환 · 다국어 재심의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16752" y="4242816"/>
            <a:ext cx="2606040" cy="338328"/>
          </a:xfrm>
          <a:prstGeom prst="roundRect">
            <a:avLst/>
          </a:prstGeom>
          <a:solidFill>
            <a:srgbClr val="E7F6EE"/>
          </a:solidFill>
          <a:ln w="9525">
            <a:solidFill>
              <a:srgbClr val="0F9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9D58"/>
                </a:solidFill>
                <a:latin typeface="Malgun Gothic"/>
              </a:rPr>
              <a:t>BGE-m3 (임베딩, 선택)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1664" y="4242816"/>
            <a:ext cx="2871216" cy="33832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1A1D21"/>
                </a:solidFill>
                <a:latin typeface="Malgun Gothic"/>
              </a:rPr>
              <a:t>-&gt; (2) RAG 근거검색 - 미설치 시 어휘검색으로 자동 폴백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4608576"/>
            <a:ext cx="2606040" cy="338328"/>
          </a:xfrm>
          <a:prstGeom prst="roundRect">
            <a:avLst/>
          </a:prstGeom>
          <a:solidFill>
            <a:srgbClr val="EEF1F5"/>
          </a:solidFill>
          <a:ln w="9525">
            <a:solidFill>
              <a:srgbClr val="6B74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B7480"/>
                </a:solidFill>
                <a:latin typeface="Malgun Gothic"/>
              </a:rPr>
              <a:t>결정적 엔진 (모델 없음)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4608576"/>
            <a:ext cx="2871216" cy="338328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1A1D21"/>
                </a:solidFill>
                <a:latin typeface="Malgun Gothic"/>
              </a:rPr>
              <a:t>-&gt; (1) 유형분류 · (3) 룰엔진 · (6) 리포트 · (7,8) 승인·감사 (규칙·집계)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6867144" y="5029200"/>
            <a:ext cx="256032" cy="310896"/>
          </a:xfrm>
          <a:prstGeom prst="down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5029200"/>
            <a:ext cx="2286000" cy="310896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6470"/>
                </a:solidFill>
                <a:latin typeface="Malgun Gothic"/>
              </a:rPr>
              <a:t>조회·기록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10250424" y="5029200"/>
            <a:ext cx="256032" cy="310896"/>
          </a:xfrm>
          <a:prstGeom prst="downArrow">
            <a:avLst/>
          </a:prstGeom>
          <a:solidFill>
            <a:srgbClr val="8AA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61320" y="5029200"/>
            <a:ext cx="2286000" cy="310896"/>
          </a:xfrm>
          <a:prstGeom prst="rect">
            <a:avLst/>
          </a:prstGeom>
          <a:noFill/>
        </p:spPr>
        <p:txBody>
          <a:bodyPr wrap="square" anchor="ctr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B6470"/>
                </a:solidFill>
                <a:latin typeface="Malgun Gothic"/>
              </a:rPr>
              <a:t>연동</a:t>
            </a:r>
          </a:p>
        </p:txBody>
      </p:sp>
      <p:sp>
        <p:nvSpPr>
          <p:cNvPr id="47" name="Can 46"/>
          <p:cNvSpPr/>
          <p:nvPr/>
        </p:nvSpPr>
        <p:spPr>
          <a:xfrm>
            <a:off x="5852160" y="5340096"/>
            <a:ext cx="1600200" cy="1097280"/>
          </a:xfrm>
          <a:prstGeom prst="can">
            <a:avLst/>
          </a:prstGeom>
          <a:solidFill>
            <a:srgbClr val="00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algun Gothic"/>
              </a:rPr>
              <a:t>SQLite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FE6F0"/>
                </a:solidFill>
                <a:latin typeface="Malgun Gothic"/>
              </a:rPr>
              <a:t>승인·감사로그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FE6F0"/>
                </a:solidFill>
                <a:latin typeface="Malgun Gothic"/>
              </a:rPr>
              <a:t>내규·배포 로그</a:t>
            </a:r>
          </a:p>
        </p:txBody>
      </p:sp>
      <p:sp>
        <p:nvSpPr>
          <p:cNvPr id="48" name="Can 47"/>
          <p:cNvSpPr/>
          <p:nvPr/>
        </p:nvSpPr>
        <p:spPr>
          <a:xfrm>
            <a:off x="7589520" y="5340096"/>
            <a:ext cx="1600200" cy="1097280"/>
          </a:xfrm>
          <a:prstGeom prst="can">
            <a:avLst/>
          </a:prstGeom>
          <a:solidFill>
            <a:srgbClr val="2A6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algun Gothic"/>
              </a:rPr>
              <a:t>규제 KB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FE6F0"/>
                </a:solidFill>
                <a:latin typeface="Malgun Gothic"/>
              </a:rPr>
              <a:t>regulations.json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FE6F0"/>
                </a:solidFill>
                <a:latin typeface="Malgun Gothic"/>
              </a:rPr>
              <a:t>rules.yaml</a:t>
            </a:r>
          </a:p>
        </p:txBody>
      </p:sp>
      <p:sp>
        <p:nvSpPr>
          <p:cNvPr id="49" name="Cloud 48"/>
          <p:cNvSpPr/>
          <p:nvPr/>
        </p:nvSpPr>
        <p:spPr>
          <a:xfrm>
            <a:off x="9326880" y="5212080"/>
            <a:ext cx="2450592" cy="1371600"/>
          </a:xfrm>
          <a:prstGeom prst="cloud">
            <a:avLst/>
          </a:prstGeom>
          <a:solidFill>
            <a:srgbClr val="FFF7E6"/>
          </a:solidFill>
          <a:ln w="15875">
            <a:solidFill>
              <a:srgbClr val="C78A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5358384"/>
            <a:ext cx="2450592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6200"/>
                </a:solidFill>
                <a:latin typeface="Malgun Gothic"/>
              </a:rPr>
              <a:t>외부 연동 (어댑터)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561441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4E00"/>
                </a:solidFill>
                <a:latin typeface="Malgun Gothic"/>
              </a:rPr>
              <a:t>법제처 OpenAPI  </a:t>
            </a:r>
            <a:r>
              <a:rPr sz="850" b="1">
                <a:solidFill>
                  <a:srgbClr val="C78A06"/>
                </a:solidFill>
                <a:latin typeface="Malgun Gothic"/>
              </a:rPr>
              <a:t>F14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18320" y="58887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4E00"/>
                </a:solidFill>
                <a:latin typeface="Malgun Gothic"/>
              </a:rPr>
              <a:t>FCM·SNS·알림톡  </a:t>
            </a:r>
            <a:r>
              <a:rPr sz="850" b="1">
                <a:solidFill>
                  <a:srgbClr val="C78A06"/>
                </a:solidFill>
                <a:latin typeface="Malgun Gothic"/>
              </a:rPr>
              <a:t>F15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616305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4E00"/>
                </a:solidFill>
                <a:latin typeface="Malgun Gothic"/>
              </a:rPr>
              <a:t>코어뱅킹 API  </a:t>
            </a:r>
            <a:r>
              <a:rPr sz="850" b="1">
                <a:solidFill>
                  <a:srgbClr val="C78A06"/>
                </a:solidFill>
                <a:latin typeface="Malgun Gothic"/>
              </a:rPr>
              <a:t>F16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528816"/>
            <a:ext cx="11338560" cy="256032"/>
          </a:xfrm>
          <a:prstGeom prst="rect">
            <a:avLst/>
          </a:prstGeom>
          <a:noFill/>
        </p:spPr>
        <p:txBody>
          <a:bodyPr wrap="square" anchor="t" lIns="0" rIns="0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470"/>
                </a:solidFill>
                <a:latin typeface="Malgun Gothic"/>
              </a:rPr>
              <a:t>외부 연동은 어댑터로 분리 - 데모는 목/피드, 운영 시 법제처 OpenAPI·FCM/SNS/알림톡·코어뱅킹 API로 교체 · 전 과정 온프레미스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