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1945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3A6E"/>
                </a:solidFill>
                <a:latin typeface="맑은 고딕"/>
              </a:rPr>
              <a:t>JB 준법 코파일럿 — 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494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470"/>
                </a:solidFill>
                <a:latin typeface="맑은 고딕"/>
              </a:rPr>
              <a:t>사용자 → 프론트엔드/UI → 백엔드/API → AI Agent·모델 → DB·외부연동 (전 과정 온프레미스 · 휴먼인더루프)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33271"/>
            <a:ext cx="11365992" cy="31750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965960" cy="658368"/>
          </a:xfrm>
          <a:prstGeom prst="roundRect">
            <a:avLst/>
          </a:prstGeom>
          <a:solidFill>
            <a:srgbClr val="5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👤 사용자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207008"/>
            <a:ext cx="4512564" cy="658368"/>
          </a:xfrm>
          <a:prstGeom prst="roundRect">
            <a:avLst/>
          </a:prstGeom>
          <a:solidFill>
            <a:srgbClr val="EEF1F5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맑은 고딕"/>
              </a:rPr>
              <a:t>마케팅 · 지점 담당자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맑은 고딕"/>
              </a:rPr>
              <a:t>금융 콘텐츠 초안 작성 (작성 시점 실시간)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19188" y="1207008"/>
            <a:ext cx="4512564" cy="658368"/>
          </a:xfrm>
          <a:prstGeom prst="roundRect">
            <a:avLst/>
          </a:prstGeom>
          <a:solidFill>
            <a:srgbClr val="EEF1F5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맑은 고딕"/>
              </a:rPr>
              <a:t>준법관리자 (준법감시부)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맑은 고딕"/>
              </a:rPr>
              <a:t>검토 · 승인 (Human-in-the-loop)</a:t>
            </a:r>
          </a:p>
        </p:txBody>
      </p:sp>
      <p:sp>
        <p:nvSpPr>
          <p:cNvPr id="8" name="Down Arrow 7"/>
          <p:cNvSpPr/>
          <p:nvPr/>
        </p:nvSpPr>
        <p:spPr>
          <a:xfrm>
            <a:off x="7022592" y="1883664"/>
            <a:ext cx="219456" cy="146304"/>
          </a:xfrm>
          <a:prstGeom prst="downArrow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048256"/>
            <a:ext cx="1965960" cy="786384"/>
          </a:xfrm>
          <a:prstGeom prst="round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🖥 프론트엔드/UI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2"/>
            <a:ext cx="9171432" cy="219456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9D55"/>
                </a:solidFill>
                <a:latin typeface="맑은 고딕"/>
              </a:rPr>
              <a:t>정적 SPA · 바닐라 JS (빌드리스, FastAPI가 서빙)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359152"/>
            <a:ext cx="2210562" cy="402336"/>
          </a:xfrm>
          <a:prstGeom prst="roundRect">
            <a:avLst/>
          </a:prstGeom>
          <a:solidFill>
            <a:srgbClr val="E9F7E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심의 워크스페이스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80610" y="2359152"/>
            <a:ext cx="2210562" cy="402336"/>
          </a:xfrm>
          <a:prstGeom prst="roundRect">
            <a:avLst/>
          </a:prstGeom>
          <a:solidFill>
            <a:srgbClr val="E9F7E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오인 시뮬레이터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900" y="2359152"/>
            <a:ext cx="2210562" cy="402336"/>
          </a:xfrm>
          <a:prstGeom prst="roundRect">
            <a:avLst/>
          </a:prstGeom>
          <a:solidFill>
            <a:srgbClr val="E9F7E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준법관리자 승인 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1190" y="2359152"/>
            <a:ext cx="2210562" cy="402336"/>
          </a:xfrm>
          <a:prstGeom prst="roundRect">
            <a:avLst/>
          </a:prstGeom>
          <a:solidFill>
            <a:srgbClr val="E9F7E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D21"/>
                </a:solidFill>
                <a:latin typeface="맑은 고딕"/>
              </a:rPr>
              <a:t>감사로그 뷰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022592" y="2852928"/>
            <a:ext cx="219456" cy="146304"/>
          </a:xfrm>
          <a:prstGeom prst="downArrow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834640"/>
            <a:ext cx="2743200" cy="146304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REST (JSON)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17520"/>
            <a:ext cx="1965960" cy="731520"/>
          </a:xfrm>
          <a:prstGeom prst="round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⚙ 백엔드/API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054096"/>
            <a:ext cx="9171432" cy="219456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0529B"/>
                </a:solidFill>
                <a:latin typeface="맑은 고딕"/>
              </a:rPr>
              <a:t>FastAPI · app/main.py — REST 엔드포인트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60320" y="3310128"/>
            <a:ext cx="1247502" cy="365760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/review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0974" y="3310128"/>
            <a:ext cx="1247502" cy="365760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/autopilot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01628" y="3310128"/>
            <a:ext cx="1247502" cy="365760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/submissions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2282" y="3310128"/>
            <a:ext cx="1247502" cy="365760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/internal-rules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42936" y="3310128"/>
            <a:ext cx="1247502" cy="365760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/regwatch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3590" y="3310128"/>
            <a:ext cx="1247502" cy="365760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/dist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84244" y="3310128"/>
            <a:ext cx="1247502" cy="365760"/>
          </a:xfrm>
          <a:prstGeom prst="roundRect">
            <a:avLst/>
          </a:prstGeom>
          <a:solidFill>
            <a:srgbClr val="EEF4FC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/products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22592" y="3767328"/>
            <a:ext cx="219456" cy="146304"/>
          </a:xfrm>
          <a:prstGeom prst="downArrow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749040"/>
            <a:ext cx="2743200" cy="146304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추론 호출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931920"/>
            <a:ext cx="1965960" cy="1371600"/>
          </a:xfrm>
          <a:prstGeom prst="roundRect">
            <a:avLst/>
          </a:prstGeom>
          <a:solidFill>
            <a:srgbClr val="5B3B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🧠 AI Agent/모델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60320" y="3931920"/>
            <a:ext cx="9171432" cy="1371600"/>
          </a:xfrm>
          <a:prstGeom prst="roundRect">
            <a:avLst/>
          </a:prstGeom>
          <a:solidFill>
            <a:srgbClr val="F0ECFF"/>
          </a:solidFill>
          <a:ln w="12700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06624" y="4005072"/>
            <a:ext cx="8897112" cy="219456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3BBF"/>
                </a:solidFill>
                <a:latin typeface="맑은 고딕"/>
              </a:rPr>
              <a:t>Orchestrator · 명시적 파이썬 파이프라인 (app/pipeline)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06624" y="4279392"/>
            <a:ext cx="1197864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①유형분류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86784" y="4279392"/>
            <a:ext cx="1197864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②RAG 근거검색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66944" y="4279392"/>
            <a:ext cx="1197864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B3BBF"/>
                </a:solidFill>
                <a:latin typeface="맑은 고딕"/>
              </a:rPr>
              <a:t>③룰엔진(결정적)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47104" y="4279392"/>
            <a:ext cx="1197864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④LLM 뉘앙스 심의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27264" y="4279392"/>
            <a:ext cx="1197864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B3BBF"/>
                </a:solidFill>
                <a:latin typeface="맑은 고딕"/>
              </a:rPr>
              <a:t>⑤★오인 시뮬레이터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07424" y="4279392"/>
            <a:ext cx="1197864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⑥리포트·점수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87584" y="4279392"/>
            <a:ext cx="1197864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A1D21"/>
                </a:solidFill>
                <a:latin typeface="맑은 고딕"/>
              </a:rPr>
              <a:t>⑦⑧승인·감사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06624" y="4800600"/>
            <a:ext cx="4754880" cy="420624"/>
          </a:xfrm>
          <a:prstGeom prst="roundRect">
            <a:avLst/>
          </a:prstGeom>
          <a:solidFill>
            <a:srgbClr val="F7F4FF"/>
          </a:solidFill>
          <a:ln w="9525">
            <a:solidFill>
              <a:srgbClr val="CDB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B3BBF"/>
                </a:solidFill>
                <a:latin typeface="맑은 고딕"/>
              </a:rPr>
              <a:t>★준법 오토파일럿</a:t>
            </a:r>
            <a:r>
              <a:rPr sz="850" b="0">
                <a:solidFill>
                  <a:srgbClr val="5B6470"/>
                </a:solidFill>
                <a:latin typeface="맑은 고딕"/>
              </a:rPr>
              <a:t> — 판단→고쳐쓰기→재심의 자율 루프(통과까지)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9520" y="4800600"/>
            <a:ext cx="1920240" cy="420624"/>
          </a:xfrm>
          <a:prstGeom prst="roundRect">
            <a:avLst/>
          </a:prstGeom>
          <a:solidFill>
            <a:srgbClr val="E7ECF5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3A6E"/>
                </a:solidFill>
                <a:latin typeface="맑은 고딕"/>
              </a:rPr>
              <a:t>🤖 Ollama · Qwen2.5-7B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470"/>
                </a:solidFill>
                <a:latin typeface="맑은 고딕"/>
              </a:rPr>
              <a:t>LLM 추론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4800600"/>
            <a:ext cx="1984248" cy="420624"/>
          </a:xfrm>
          <a:prstGeom prst="roundRect">
            <a:avLst/>
          </a:prstGeom>
          <a:solidFill>
            <a:srgbClr val="E7ECF5"/>
          </a:solidFill>
          <a:ln w="9525">
            <a:solidFill>
              <a:srgbClr val="BCD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3A6E"/>
                </a:solidFill>
                <a:latin typeface="맑은 고딕"/>
              </a:rPr>
              <a:t>🔎 BGE-m3 임베딩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470"/>
                </a:solidFill>
                <a:latin typeface="맑은 고딕"/>
              </a:rPr>
              <a:t>RAG (선택)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7022592" y="5321808"/>
            <a:ext cx="219456" cy="146304"/>
          </a:xfrm>
          <a:prstGeom prst="downArrow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5303520"/>
            <a:ext cx="2743200" cy="146304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조회 · 기록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486400"/>
            <a:ext cx="1965960" cy="859536"/>
          </a:xfrm>
          <a:prstGeom prst="roundRect">
            <a:avLst/>
          </a:prstGeom>
          <a:solidFill>
            <a:srgbClr val="00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🗄 DB/외부연동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60320" y="5486400"/>
            <a:ext cx="4480560" cy="384048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A1D21"/>
                </a:solidFill>
                <a:latin typeface="맑은 고딕"/>
              </a:rPr>
              <a:t>SQLite (store.py)</a:t>
            </a:r>
            <a:r>
              <a:rPr sz="850" b="0">
                <a:solidFill>
                  <a:srgbClr val="5B6470"/>
                </a:solidFill>
                <a:latin typeface="맑은 고딕"/>
              </a:rPr>
              <a:t>  승인·감사로그·내규·배포 로그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78040" y="5486400"/>
            <a:ext cx="4553712" cy="384048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A1D21"/>
                </a:solidFill>
                <a:latin typeface="맑은 고딕"/>
              </a:rPr>
              <a:t>규제 지식베이스</a:t>
            </a:r>
            <a:r>
              <a:rPr sz="850" b="0">
                <a:solidFill>
                  <a:srgbClr val="5B6470"/>
                </a:solidFill>
                <a:latin typeface="맑은 고딕"/>
              </a:rPr>
              <a:t>  regulations.json · rules.yaml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60320" y="5925312"/>
            <a:ext cx="2959608" cy="384048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F0D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3A6E"/>
                </a:solidFill>
                <a:latin typeface="맑은 고딕"/>
              </a:rPr>
              <a:t>🔌 법제처 OpenAPI</a:t>
            </a:r>
            <a:r>
              <a:rPr sz="800" b="0">
                <a:solidFill>
                  <a:srgbClr val="5B6470"/>
                </a:solidFill>
                <a:latin typeface="맑은 고딕"/>
              </a:rPr>
              <a:t>  규제 피드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62728" y="5989320"/>
            <a:ext cx="384048" cy="256032"/>
          </a:xfrm>
          <a:prstGeom prst="round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맑은 고딕"/>
              </a:rPr>
              <a:t>F14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6232" y="5925312"/>
            <a:ext cx="2959608" cy="384048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F0D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3A6E"/>
                </a:solidFill>
                <a:latin typeface="맑은 고딕"/>
              </a:rPr>
              <a:t>🔌 FCM·SNS·알림톡</a:t>
            </a:r>
            <a:r>
              <a:rPr sz="800" b="0">
                <a:solidFill>
                  <a:srgbClr val="5B6470"/>
                </a:solidFill>
                <a:latin typeface="맑은 고딕"/>
              </a:rPr>
              <a:t>  승인본 발송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68640" y="5989320"/>
            <a:ext cx="384048" cy="256032"/>
          </a:xfrm>
          <a:prstGeom prst="round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맑은 고딕"/>
              </a:rPr>
              <a:t>F15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72144" y="5925312"/>
            <a:ext cx="2959608" cy="384048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F0D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3A6E"/>
                </a:solidFill>
                <a:latin typeface="맑은 고딕"/>
              </a:rPr>
              <a:t>🔌 코어뱅킹 API</a:t>
            </a:r>
            <a:r>
              <a:rPr sz="800" b="0">
                <a:solidFill>
                  <a:srgbClr val="5B6470"/>
                </a:solidFill>
                <a:latin typeface="맑은 고딕"/>
              </a:rPr>
              <a:t>  상품조건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4552" y="5989320"/>
            <a:ext cx="384048" cy="256032"/>
          </a:xfrm>
          <a:prstGeom prst="round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맑은 고딕"/>
              </a:rPr>
              <a:t>F16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73952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470"/>
                </a:solidFill>
                <a:latin typeface="맑은 고딕"/>
              </a:rPr>
              <a:t>외부 연동(법제처·발송채널·코어뱅킹)은 어댑터로 분리 — 데모는 목/피드, 운영 시 실제 API로 교체 · 전 과정 온프레미스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