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3A6E"/>
                </a:solidFill>
                <a:latin typeface="맑은 고딕"/>
              </a:rPr>
              <a:t>JB 준법 코파일럿 — 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76656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470"/>
                </a:solidFill>
                <a:latin typeface="맑은 고딕"/>
              </a:rPr>
              <a:t>사용자 · 프론트엔드 · 백엔드 API · AI Agent/모델 · DB/외부연동 — 전 과정 온프레미스 · 휴먼인더루프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65992" cy="3175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1874519" cy="21945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B6470"/>
                </a:solidFill>
                <a:latin typeface="맑은 고딕"/>
              </a:rPr>
              <a:t>👤 사용자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60019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D21"/>
                </a:solidFill>
                <a:latin typeface="맑은 고딕"/>
              </a:rPr>
              <a:t>마케팅·지점 담당자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금융 콘텐츠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초안 작성(실시간)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98648"/>
            <a:ext cx="160019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D21"/>
                </a:solidFill>
                <a:latin typeface="맑은 고딕"/>
              </a:rPr>
              <a:t>준법관리자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준법감시부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검토·승인(HITL)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77440" y="2514600"/>
            <a:ext cx="411480" cy="365760"/>
          </a:xfrm>
          <a:prstGeom prst="right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600200"/>
            <a:ext cx="2331720" cy="2194560"/>
          </a:xfrm>
          <a:prstGeom prst="roundRect">
            <a:avLst/>
          </a:prstGeom>
          <a:solidFill>
            <a:srgbClr val="EAFAF0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9164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9D55"/>
                </a:solidFill>
                <a:latin typeface="맑은 고딕"/>
              </a:rPr>
              <a:t>🖥 프론트엔드 /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84248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정적 SPA · 바닐라 JS (FastAPI 서빙)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2258568"/>
            <a:ext cx="205740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심의 워크스페이스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2624328"/>
            <a:ext cx="205740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A1D21"/>
                </a:solidFill>
                <a:latin typeface="맑은 고딕"/>
              </a:rPr>
              <a:t>오인 시뮬레이터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2990088"/>
            <a:ext cx="205740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준법관리자 승인 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3355848"/>
            <a:ext cx="2057400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감사로그 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03520" y="2514600"/>
            <a:ext cx="411480" cy="365760"/>
          </a:xfrm>
          <a:prstGeom prst="right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2402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B6470"/>
                </a:solidFill>
                <a:latin typeface="맑은 고딕"/>
              </a:rPr>
              <a:t>REST(JSON)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1371600"/>
            <a:ext cx="5943600" cy="3246120"/>
          </a:xfrm>
          <a:prstGeom prst="roundRect">
            <a:avLst/>
          </a:prstGeom>
          <a:solidFill>
            <a:srgbClr val="FAF8FF"/>
          </a:solidFill>
          <a:ln w="1587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2744" y="1499616"/>
            <a:ext cx="5650992" cy="566928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3619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529B"/>
                </a:solidFill>
                <a:latin typeface="맑은 고딕"/>
              </a:rPr>
              <a:t>⚙ 백엔드 / API — FastAPI (app/main.py) · REST 엔드포인트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27955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/autopilot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870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/submissions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3785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/internal-rules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06700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/regwatch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99615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/dist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92530" y="1773936"/>
            <a:ext cx="72890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3A6E"/>
                </a:solidFill>
                <a:latin typeface="맑은 고딕"/>
              </a:rPr>
              <a:t>/products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157984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3BBF"/>
                </a:solidFill>
                <a:latin typeface="맑은 고딕"/>
              </a:rPr>
              <a:t>🧠 AI Agent · Orchestrator (명시적 파이썬 파이프라인)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2395728"/>
            <a:ext cx="728907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1A1D21"/>
                </a:solidFill>
                <a:latin typeface="맑은 고딕"/>
              </a:rPr>
              <a:t>①유형분류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7371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27955" y="2395728"/>
            <a:ext cx="728907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1A1D21"/>
                </a:solidFill>
                <a:latin typeface="맑은 고딕"/>
              </a:rPr>
              <a:t>②RAG 검색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0286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20870" y="2395728"/>
            <a:ext cx="728907" cy="457200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5B3BBF"/>
                </a:solidFill>
                <a:latin typeface="맑은 고딕"/>
              </a:rPr>
              <a:t>③룰엔진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01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3785" y="2395728"/>
            <a:ext cx="728907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1A1D21"/>
                </a:solidFill>
                <a:latin typeface="맑은 고딕"/>
              </a:rPr>
              <a:t>④LLM 심의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6116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06700" y="2395728"/>
            <a:ext cx="728907" cy="457200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5B3BBF"/>
                </a:solidFill>
                <a:latin typeface="맑은 고딕"/>
              </a:rPr>
              <a:t>⑤시뮬레이터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9031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99615" y="2395728"/>
            <a:ext cx="728907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1A1D21"/>
                </a:solidFill>
                <a:latin typeface="맑은 고딕"/>
              </a:rPr>
              <a:t>⑥리포트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1946" y="2395728"/>
            <a:ext cx="109728" cy="45720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470"/>
                </a:solidFill>
                <a:latin typeface="맑은 고딕"/>
              </a:rPr>
              <a:t>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92530" y="2395728"/>
            <a:ext cx="728907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1A1D21"/>
                </a:solidFill>
                <a:latin typeface="맑은 고딕"/>
              </a:rPr>
              <a:t>⑦⑧승인·감사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2962656"/>
            <a:ext cx="3017520" cy="402336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B3BBF"/>
                </a:solidFill>
                <a:latin typeface="맑은 고딕"/>
              </a:rPr>
              <a:t>★준법 오토파일럿</a:t>
            </a:r>
            <a:r>
              <a:rPr sz="800" b="0">
                <a:solidFill>
                  <a:srgbClr val="5B6470"/>
                </a:solidFill>
                <a:latin typeface="맑은 고딕"/>
              </a:rPr>
              <a:t> 자율 개선 루프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2962656"/>
            <a:ext cx="1325880" cy="402336"/>
          </a:xfrm>
          <a:prstGeom prst="roundRect">
            <a:avLst/>
          </a:prstGeom>
          <a:solidFill>
            <a:srgbClr val="E7ECF5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03A6E"/>
                </a:solidFill>
                <a:latin typeface="맑은 고딕"/>
              </a:rPr>
              <a:t>🤖 Ollama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470"/>
                </a:solidFill>
                <a:latin typeface="맑은 고딕"/>
              </a:rPr>
              <a:t>Qwen2.5-7B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61320" y="2962656"/>
            <a:ext cx="960120" cy="402336"/>
          </a:xfrm>
          <a:prstGeom prst="roundRect">
            <a:avLst/>
          </a:prstGeom>
          <a:solidFill>
            <a:srgbClr val="E7ECF5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03A6E"/>
                </a:solidFill>
                <a:latin typeface="맑은 고딕"/>
              </a:rPr>
              <a:t>🔎 BGE-m3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470"/>
                </a:solidFill>
                <a:latin typeface="맑은 고딕"/>
              </a:rPr>
              <a:t>임베딩(선택)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438143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470"/>
                </a:solidFill>
                <a:latin typeface="맑은 고딕"/>
              </a:rPr>
              <a:t>인용은 검색된 조항으로 제한 · 룰엔진=결정적 등급 권위 · LLM=보조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6830568" y="4663440"/>
            <a:ext cx="237744" cy="365760"/>
          </a:xfrm>
          <a:prstGeom prst="down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4032" y="466344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B6470"/>
                </a:solidFill>
                <a:latin typeface="맑은 고딕"/>
              </a:rPr>
              <a:t>조회·기록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213848" y="4663440"/>
            <a:ext cx="237744" cy="365760"/>
          </a:xfrm>
          <a:prstGeom prst="down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97312" y="466344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B6470"/>
                </a:solidFill>
                <a:latin typeface="맑은 고딕"/>
              </a:rPr>
              <a:t>연동</a:t>
            </a:r>
          </a:p>
        </p:txBody>
      </p:sp>
      <p:sp>
        <p:nvSpPr>
          <p:cNvPr id="51" name="Can 50"/>
          <p:cNvSpPr/>
          <p:nvPr/>
        </p:nvSpPr>
        <p:spPr>
          <a:xfrm>
            <a:off x="5806440" y="5120640"/>
            <a:ext cx="1554480" cy="1188720"/>
          </a:xfrm>
          <a:prstGeom prst="can">
            <a:avLst/>
          </a:prstGeom>
          <a:solidFill>
            <a:srgbClr val="00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🗄 SQLite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DFE6F0"/>
                </a:solidFill>
                <a:latin typeface="맑은 고딕"/>
              </a:rPr>
              <a:t>승인·감사로그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DFE6F0"/>
                </a:solidFill>
                <a:latin typeface="맑은 고딕"/>
              </a:rPr>
              <a:t>내규·배포</a:t>
            </a:r>
          </a:p>
        </p:txBody>
      </p:sp>
      <p:sp>
        <p:nvSpPr>
          <p:cNvPr id="52" name="Can 51"/>
          <p:cNvSpPr/>
          <p:nvPr/>
        </p:nvSpPr>
        <p:spPr>
          <a:xfrm>
            <a:off x="7498079" y="5120640"/>
            <a:ext cx="1554480" cy="1188720"/>
          </a:xfrm>
          <a:prstGeom prst="can">
            <a:avLst/>
          </a:prstGeom>
          <a:solidFill>
            <a:srgbClr val="2A6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📚 규제 KB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DFE6F0"/>
                </a:solidFill>
                <a:latin typeface="맑은 고딕"/>
              </a:rPr>
              <a:t>regulations.json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DFE6F0"/>
                </a:solidFill>
                <a:latin typeface="맑은 고딕"/>
              </a:rPr>
              <a:t>rules.yaml</a:t>
            </a:r>
          </a:p>
        </p:txBody>
      </p:sp>
      <p:sp>
        <p:nvSpPr>
          <p:cNvPr id="53" name="Cloud 52"/>
          <p:cNvSpPr/>
          <p:nvPr/>
        </p:nvSpPr>
        <p:spPr>
          <a:xfrm>
            <a:off x="9189720" y="4983480"/>
            <a:ext cx="2560320" cy="1508760"/>
          </a:xfrm>
          <a:prstGeom prst="cloud">
            <a:avLst/>
          </a:prstGeom>
          <a:solidFill>
            <a:srgbClr val="FFF7E6"/>
          </a:solidFill>
          <a:ln w="15875">
            <a:solidFill>
              <a:srgbClr val="C78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89720" y="5138928"/>
            <a:ext cx="2560320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A6200"/>
                </a:solidFill>
                <a:latin typeface="맑은 고딕"/>
              </a:rPr>
              <a:t>☁ 외부 연동 (어댑터)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5394960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B4E00"/>
                </a:solidFill>
                <a:latin typeface="맑은 고딕"/>
              </a:rPr>
              <a:t>법제처 OpenAPI  </a:t>
            </a:r>
            <a:r>
              <a:rPr sz="750" b="1">
                <a:solidFill>
                  <a:srgbClr val="C78A06"/>
                </a:solidFill>
                <a:latin typeface="맑은 고딕"/>
              </a:rPr>
              <a:t>F14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5669280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B4E00"/>
                </a:solidFill>
                <a:latin typeface="맑은 고딕"/>
              </a:rPr>
              <a:t>FCM·SNS·알림톡  </a:t>
            </a:r>
            <a:r>
              <a:rPr sz="750" b="1">
                <a:solidFill>
                  <a:srgbClr val="C78A06"/>
                </a:solidFill>
                <a:latin typeface="맑은 고딕"/>
              </a:rPr>
              <a:t>F15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0" y="5943600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B4E00"/>
                </a:solidFill>
                <a:latin typeface="맑은 고딕"/>
              </a:rPr>
              <a:t>코어뱅킹 API  </a:t>
            </a:r>
            <a:r>
              <a:rPr sz="750" b="1">
                <a:solidFill>
                  <a:srgbClr val="C78A06"/>
                </a:solidFill>
                <a:latin typeface="맑은 고딕"/>
              </a:rPr>
              <a:t>F16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6492240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외부 연동은 어댑터로 분리 — 데모는 목/피드, 운영 시 법제처 OpenAPI·FCM/SNS/알림톡·코어뱅킹 API로 교체 · 전 과정 온프레미스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