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3A6E"/>
                </a:solidFill>
                <a:latin typeface="맑은 고딕"/>
              </a:rPr>
              <a:t>시스템 아키텍처 (System Architecture)</a:t>
            </a:r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9975" y="274320"/>
            <a:ext cx="1949782" cy="329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868680"/>
            <a:ext cx="11183112" cy="2540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417320"/>
            <a:ext cx="11155680" cy="42027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784615"/>
            <a:ext cx="11183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D21"/>
                </a:solidFill>
                <a:latin typeface="맑은 고딕"/>
              </a:rPr>
              <a:t>온프레미스 · 오픈모델(Qwen2.5-7B) · 망분리 3-Zone · 전 과정 휴먼인더루프.  </a:t>
            </a:r>
            <a:r>
              <a:rPr sz="1200" b="0">
                <a:solidFill>
                  <a:srgbClr val="5B6470"/>
                </a:solidFill>
                <a:latin typeface="맑은 고딕"/>
              </a:rPr>
              <a:t>데이터는 내부망(Air-gap)을 벗어나지 않으며, 외부 연동은 DMZ 게이트웨이를 통해 어댑터로 교체된다.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375" y="6309360"/>
            <a:ext cx="797242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30936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470"/>
                </a:solidFill>
                <a:latin typeface="맑은 고딕"/>
              </a:rPr>
              <a:t>JB금융그룹 Fin:AI Challenge · 지정주제2 준법자문가 AI Agent · JB 준법 코파일럿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3A6E"/>
                </a:solidFill>
                <a:latin typeface="맑은 고딕"/>
              </a:rPr>
              <a:t>구성요소 역할 (Components)</a:t>
            </a:r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9975" y="274320"/>
            <a:ext cx="1949782" cy="3291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868680"/>
            <a:ext cx="11183112" cy="2540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61188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9144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0876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0529B"/>
                </a:solidFill>
                <a:latin typeface="맑은 고딕"/>
              </a:rPr>
              <a:t>🔒 내부망 (Air-gap) — 심의 코어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5B6470"/>
                </a:solidFill>
                <a:latin typeface="맑은 고딕"/>
              </a:rPr>
              <a:t>데이터 외부 유출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423160"/>
            <a:ext cx="3209544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정적 SPA(작성·시뮬레이터·승인·감사로그) + FastAPI Orchestrator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명시적 파이프라인: 유형분류 → RAG 근거검색 ∥ 룰엔진(결정적 권위)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→ LLM 뉘앙스 심의 ∥ 오인 시뮬레이터 → 리포트·점수·인용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→ 준법관리자 승인 · 감사로그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★준법 오토파일럿 — 통과까지 자율 개선(미수렴 시 사람 에스컬레이션)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LLM 서버: Ollama(Qwen2.5-7B) — 미연결 시 룰 기반 폴백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234440"/>
            <a:ext cx="361188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3611880" cy="91440"/>
          </a:xfrm>
          <a:prstGeom prst="rect">
            <a:avLst/>
          </a:prstGeom>
          <a:solidFill>
            <a:srgbClr val="C78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50876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C78A06"/>
                </a:solidFill>
                <a:latin typeface="맑은 고딕"/>
              </a:rPr>
              <a:t>🔁 DMZ — 망연계 게이트웨이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5B6470"/>
                </a:solidFill>
                <a:latin typeface="맑은 고딕"/>
              </a:rPr>
              <a:t>단방향·배치 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423160"/>
            <a:ext cx="3209544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내부망 ↔ 외부망을 직접 연결하지 않고 게이트웨이로 중계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배치 수신(규제 피드) · 승인본 발송(알림 요청)만 통과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실시간 그룹발송 아님 · 보안 검토 통과 트래픽만 허용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234440"/>
            <a:ext cx="361188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3611880" cy="91440"/>
          </a:xfrm>
          <a:prstGeom prst="rect">
            <a:avLst/>
          </a:prstGeom>
          <a:solidFill>
            <a:srgbClr val="00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150876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03A6E"/>
                </a:solidFill>
                <a:latin typeface="맑은 고딕"/>
              </a:rPr>
              <a:t>🌐 외부망 — 어댑터 교체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5B6470"/>
                </a:solidFill>
                <a:latin typeface="맑은 고딕"/>
              </a:rPr>
              <a:t>운영 시 실제 API로 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423160"/>
            <a:ext cx="3209544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법제처 OpenAPI — 규제 변경·개정 피드 (F14 규제 자동추적)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FCM · SNS · 알림톡 — 승인본 채널 발송 (F15 배포 Last-Mile)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A1D21"/>
                </a:solidFill>
                <a:latin typeface="맑은 고딕"/>
              </a:rPr>
              <a:t>• 코어뱅킹 상품 DB — 상품조건 자동 주입 (F16 상품 연동)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6309360"/>
            <a:ext cx="797242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30936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470"/>
                </a:solidFill>
                <a:latin typeface="맑은 고딕"/>
              </a:rPr>
              <a:t>JB금융그룹 Fin:AI Challenge · 지정주제2 준법자문가 AI Agent · JB 준법 코파일럿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