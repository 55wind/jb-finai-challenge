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003A6E"/>
                </a:solidFill>
                <a:latin typeface="맑은 고딕"/>
              </a:rPr>
              <a:t>JB 준법 코파일럿 — 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71323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5B6470"/>
                </a:solidFill>
                <a:latin typeface="맑은 고딕"/>
              </a:rPr>
              <a:t>온프레미스 · 오픈모델(Qwen2.5-7B) · 망분리 3-Zone · 전 과정 휴먼인더루프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51560"/>
            <a:ext cx="11365992" cy="31750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598932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5989320" cy="475488"/>
          </a:xfrm>
          <a:prstGeom prst="round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00529B"/>
                </a:solidFill>
                <a:latin typeface="맑은 고딕"/>
              </a:rPr>
              <a:t>🔒  내부망 (Air-gap) — 심의 코어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426464"/>
            <a:ext cx="1554480" cy="274320"/>
          </a:xfrm>
          <a:prstGeom prst="round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데이터 외부 유출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5623560" cy="566928"/>
          </a:xfrm>
          <a:prstGeom prst="roundRect">
            <a:avLst/>
          </a:prstGeom>
          <a:solidFill>
            <a:srgbClr val="F7F9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D21"/>
                </a:solidFill>
                <a:latin typeface="맑은 고딕"/>
              </a:rPr>
              <a:t>Frontend · 정적 SPA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5B6470"/>
                </a:solidFill>
                <a:latin typeface="맑은 고딕"/>
              </a:rPr>
              <a:t>오인 시뮬레이터 · 실시간 에디터 · 준법관리자 승인 뷰 · 감사로그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06040"/>
            <a:ext cx="5623560" cy="2377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003A6E"/>
                </a:solidFill>
                <a:latin typeface="맑은 고딕"/>
              </a:rPr>
              <a:t>Backend · Orchestrator  (명시적 파이프라인)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98648"/>
            <a:ext cx="2729484" cy="420624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① 유형분류 → 라우팅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8436" y="2898648"/>
            <a:ext cx="2729484" cy="420624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② RAG 근거검색 (참조그래프)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29000"/>
            <a:ext cx="2729484" cy="420624"/>
          </a:xfrm>
          <a:prstGeom prst="roundRect">
            <a:avLst/>
          </a:prstGeom>
          <a:solidFill>
            <a:srgbClr val="F0EC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A6E"/>
                </a:solidFill>
                <a:latin typeface="맑은 고딕"/>
              </a:rPr>
              <a:t>③ 룰엔진 (결정적 권위)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8436" y="3429000"/>
            <a:ext cx="2729484" cy="420624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④ LLM 뉘앙스 심의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959352"/>
            <a:ext cx="2729484" cy="420624"/>
          </a:xfrm>
          <a:prstGeom prst="roundRect">
            <a:avLst/>
          </a:prstGeom>
          <a:solidFill>
            <a:srgbClr val="F0EC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A6E"/>
                </a:solidFill>
                <a:latin typeface="맑은 고딕"/>
              </a:rPr>
              <a:t>⑤ ★오인 시뮬레이터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8436" y="3959352"/>
            <a:ext cx="2729484" cy="420624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⑥ 리포트 · 점수 · 인용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489704"/>
            <a:ext cx="2729484" cy="420624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⑦⑧ 승인 · 감사로그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88436" y="4489704"/>
            <a:ext cx="2729484" cy="420624"/>
          </a:xfrm>
          <a:prstGeom prst="roundRect">
            <a:avLst/>
          </a:prstGeom>
          <a:solidFill>
            <a:srgbClr val="F0EC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03A6E"/>
                </a:solidFill>
                <a:latin typeface="맑은 고딕"/>
              </a:rPr>
              <a:t>★준법 오토파일럿 (자율 개선)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056632"/>
            <a:ext cx="5623560" cy="548640"/>
          </a:xfrm>
          <a:prstGeom prst="roundRect">
            <a:avLst/>
          </a:prstGeom>
          <a:solidFill>
            <a:srgbClr val="1F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LLM 서버 · Ollama  (Qwen2.5-7B-Instruct)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2E0"/>
                </a:solidFill>
                <a:latin typeface="맑은 고딕"/>
              </a:rPr>
              <a:t>미연결 시 룰 기반 결정적 폴백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660136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✓ 결정적 룰엔진이 등급 관리 · LLM은 보조 · 합격 위장 불가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1325880"/>
            <a:ext cx="2057400" cy="5074920"/>
          </a:xfrm>
          <a:prstGeom prst="roundRect">
            <a:avLst/>
          </a:prstGeom>
          <a:solidFill>
            <a:srgbClr val="FEF7E6"/>
          </a:solidFill>
          <a:ln w="12700">
            <a:solidFill>
              <a:srgbClr val="F0D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65392" y="1325880"/>
            <a:ext cx="2057400" cy="475488"/>
          </a:xfrm>
          <a:prstGeom prst="roundRect">
            <a:avLst/>
          </a:prstGeom>
          <a:solidFill>
            <a:srgbClr val="FBEE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C78A06"/>
                </a:solidFill>
                <a:latin typeface="맑은 고딕"/>
              </a:rPr>
              <a:t>🔁 DMZ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78A06"/>
                </a:solidFill>
                <a:latin typeface="맑은 고딕"/>
              </a:rPr>
              <a:t>망연계 게이트웨이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892808"/>
            <a:ext cx="1837944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8A6200"/>
                </a:solidFill>
                <a:latin typeface="맑은 고딕"/>
              </a:rPr>
              <a:t>단방향 · 배치 · 검증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85432" y="2697480"/>
            <a:ext cx="141732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0D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C78A06"/>
                </a:solidFill>
                <a:latin typeface="맑은 고딕"/>
              </a:rPr>
              <a:t>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9984" y="3474720"/>
            <a:ext cx="1728216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0D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A1D21"/>
                </a:solidFill>
                <a:latin typeface="맑은 고딕"/>
              </a:rPr>
              <a:t>◀ 배치 수신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규제 피드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9984" y="4114800"/>
            <a:ext cx="1728216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0D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A1D21"/>
                </a:solidFill>
                <a:latin typeface="맑은 고딕"/>
              </a:rPr>
              <a:t>승인본 발송 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알림 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4937760"/>
            <a:ext cx="1801368" cy="10972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8A6200"/>
                </a:solidFill>
                <a:latin typeface="맑은 고딕"/>
              </a:rPr>
              <a:t>실시간 그룹/직접 발송 아님 · 보안 검토 통과 트래픽만 허용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1325880"/>
            <a:ext cx="299923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778240" y="1325880"/>
            <a:ext cx="2999232" cy="475488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003A6E"/>
                </a:solidFill>
                <a:latin typeface="맑은 고딕"/>
              </a:rPr>
              <a:t>🌐  외부망</a:t>
            </a:r>
            <a:r>
              <a:rPr sz="1000" b="1">
                <a:solidFill>
                  <a:srgbClr val="5B6470"/>
                </a:solidFill>
                <a:latin typeface="맑은 고딕"/>
              </a:rPr>
              <a:t>   [어댑터 교체]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1965960"/>
            <a:ext cx="2633472" cy="713232"/>
          </a:xfrm>
          <a:prstGeom prst="roundRect">
            <a:avLst/>
          </a:prstGeom>
          <a:solidFill>
            <a:srgbClr val="F7F9FC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D21"/>
                </a:solidFill>
                <a:latin typeface="맑은 고딕"/>
              </a:rPr>
              <a:t>법제처 OpenAPI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5B6470"/>
                </a:solidFill>
                <a:latin typeface="맑은 고딕"/>
              </a:rPr>
              <a:t>규제 변경 · 개정 피드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2185416"/>
            <a:ext cx="457200" cy="274320"/>
          </a:xfrm>
          <a:prstGeom prst="round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F14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2834640"/>
            <a:ext cx="2633472" cy="713232"/>
          </a:xfrm>
          <a:prstGeom prst="roundRect">
            <a:avLst/>
          </a:prstGeom>
          <a:solidFill>
            <a:srgbClr val="F7F9FC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D21"/>
                </a:solidFill>
                <a:latin typeface="맑은 고딕"/>
              </a:rPr>
              <a:t>FCM · SNS · 알림톡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5B6470"/>
                </a:solidFill>
                <a:latin typeface="맑은 고딕"/>
              </a:rPr>
              <a:t>승인본 채널 발송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064240" y="3054096"/>
            <a:ext cx="457200" cy="274320"/>
          </a:xfrm>
          <a:prstGeom prst="round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F15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3703320"/>
            <a:ext cx="2633472" cy="713232"/>
          </a:xfrm>
          <a:prstGeom prst="roundRect">
            <a:avLst/>
          </a:prstGeom>
          <a:solidFill>
            <a:srgbClr val="F7F9FC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1D21"/>
                </a:solidFill>
                <a:latin typeface="맑은 고딕"/>
              </a:rPr>
              <a:t>코어뱅킹 상품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5B6470"/>
                </a:solidFill>
                <a:latin typeface="맑은 고딕"/>
              </a:rPr>
              <a:t>상품조건 자동 주입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064240" y="3922776"/>
            <a:ext cx="457200" cy="274320"/>
          </a:xfrm>
          <a:prstGeom prst="round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맑은 고딕"/>
              </a:rPr>
              <a:t>F16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4617720"/>
            <a:ext cx="2633472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운영 변동성(규제·발송·상품)을 외부망으로 분리 — 금융권 내부망/외부망 분리 원칙 준수</a:t>
            </a:r>
          </a:p>
        </p:txBody>
      </p:sp>
      <p:sp>
        <p:nvSpPr>
          <p:cNvPr id="36" name="Left-Right Arrow 35"/>
          <p:cNvSpPr/>
          <p:nvPr/>
        </p:nvSpPr>
        <p:spPr>
          <a:xfrm>
            <a:off x="6364224" y="3520440"/>
            <a:ext cx="237744" cy="457200"/>
          </a:xfrm>
          <a:prstGeom prst="leftRightArrow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Left-Right Arrow 36"/>
          <p:cNvSpPr/>
          <p:nvPr/>
        </p:nvSpPr>
        <p:spPr>
          <a:xfrm>
            <a:off x="8558784" y="3520440"/>
            <a:ext cx="256032" cy="457200"/>
          </a:xfrm>
          <a:prstGeom prst="leftRightArrow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40080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5B6470"/>
                </a:solidFill>
                <a:latin typeface="맑은 고딕"/>
              </a:rPr>
              <a:t>JB금융그룹 Fin:AI Challenge · 지정주제2 준법자문가 AI Agent · JB 준법 코파일럿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