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03A6E"/>
                </a:solidFill>
                <a:latin typeface="Malgun Gothic"/>
              </a:rPr>
              <a:t>JB 준법 코파일럿 -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76656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470"/>
                </a:solidFill>
                <a:latin typeface="Malgun Gothic"/>
              </a:rPr>
              <a:t>사용자 · 프론트엔드 · 백엔드(AI Agent/모델) · DB/외부연동 - 전 과정 온프레미스 · 휴먼인더루프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1365992" cy="31750"/>
          </a:xfrm>
          <a:prstGeom prst="rect">
            <a:avLst/>
          </a:prstGeom>
          <a:solidFill>
            <a:srgbClr val="0052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2286000" cy="13716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5B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B6470"/>
                </a:solidFill>
                <a:latin typeface="Malgun Gothic"/>
              </a:rPr>
              <a:t>[ 사용자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" y="1810512"/>
            <a:ext cx="199339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D21"/>
                </a:solidFill>
                <a:latin typeface="Malgun Gothic"/>
              </a:rPr>
              <a:t>마케팅·지점 담당자</a:t>
            </a:r>
            <a:r>
              <a:rPr sz="900" b="0">
                <a:solidFill>
                  <a:srgbClr val="5B6470"/>
                </a:solidFill>
                <a:latin typeface="Malgun Gothic"/>
              </a:rPr>
              <a:t>  콘텐츠 작성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2267712"/>
            <a:ext cx="1993392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bIns="914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1D21"/>
                </a:solidFill>
                <a:latin typeface="Malgun Gothic"/>
              </a:rPr>
              <a:t>준법관리자</a:t>
            </a:r>
            <a:r>
              <a:rPr sz="900" b="0">
                <a:solidFill>
                  <a:srgbClr val="5B6470"/>
                </a:solidFill>
                <a:latin typeface="Malgun Gothic"/>
              </a:rPr>
              <a:t>  검토·승인(HITL)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426464" y="2788920"/>
            <a:ext cx="256032" cy="292608"/>
          </a:xfrm>
          <a:prstGeom prst="down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3154680"/>
            <a:ext cx="2286000" cy="2057400"/>
          </a:xfrm>
          <a:prstGeom prst="roundRect">
            <a:avLst/>
          </a:prstGeom>
          <a:solidFill>
            <a:srgbClr val="EAFAF0"/>
          </a:solidFill>
          <a:ln w="15875">
            <a:solidFill>
              <a:srgbClr val="0F9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9D58"/>
                </a:solidFill>
                <a:latin typeface="Malgun Gothic"/>
              </a:rPr>
              <a:t>[ 프론트엔드 / UI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538728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470"/>
                </a:solidFill>
                <a:latin typeface="Malgun Gothic"/>
              </a:rPr>
              <a:t>정적 SPA · 바닐라 JS (FastAPI 서빙)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" y="3822191"/>
            <a:ext cx="1993392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E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D21"/>
                </a:solidFill>
                <a:latin typeface="Malgun Gothic"/>
              </a:rPr>
              <a:t>심의 워크스페이스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" y="4160519"/>
            <a:ext cx="1993392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E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오인 시뮬레이터 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" y="4498847"/>
            <a:ext cx="1993392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E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D21"/>
                </a:solidFill>
                <a:latin typeface="Malgun Gothic"/>
              </a:rPr>
              <a:t>준법관리자 승인 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" y="4837175"/>
            <a:ext cx="1993392" cy="2926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E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D21"/>
                </a:solidFill>
                <a:latin typeface="Malgun Gothic"/>
              </a:rPr>
              <a:t>감사로그 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61488" y="3977639"/>
            <a:ext cx="384048" cy="365760"/>
          </a:xfrm>
          <a:prstGeom prst="right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3685031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6470"/>
                </a:solidFill>
                <a:latin typeface="Malgun Gothic"/>
              </a:rPr>
              <a:t>REST(JSON)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371600"/>
            <a:ext cx="8485632" cy="3931920"/>
          </a:xfrm>
          <a:prstGeom prst="roundRect">
            <a:avLst/>
          </a:prstGeom>
          <a:solidFill>
            <a:srgbClr val="FAF8FF"/>
          </a:solidFill>
          <a:ln w="15875">
            <a:solidFill>
              <a:srgbClr val="5B3B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481328"/>
            <a:ext cx="8119872" cy="256032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29B"/>
                </a:solidFill>
                <a:latin typeface="Malgun Gothic"/>
              </a:rPr>
              <a:t>[ 백엔드 / Backend ]  FastAPI (app/main.py) · 온프레미스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792224"/>
            <a:ext cx="8119872" cy="237744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3BBF"/>
                </a:solidFill>
                <a:latin typeface="Malgun Gothic"/>
              </a:rPr>
              <a:t>AI Agent · Orchestrator - 명시적 파이썬 파이프라인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2084832"/>
            <a:ext cx="1120793" cy="749808"/>
          </a:xfrm>
          <a:prstGeom prst="roundRect">
            <a:avLst/>
          </a:prstGeom>
          <a:solidFill>
            <a:srgbClr val="EEF1F5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(1)분류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0"/>
                </a:solidFill>
                <a:latin typeface="Malgun Gothic"/>
              </a:rPr>
              <a:t>결정적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7225" y="2084832"/>
            <a:ext cx="91440" cy="749808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470"/>
                </a:solidFill>
                <a:latin typeface="Malgun Gothic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41233" y="2084832"/>
            <a:ext cx="1120793" cy="749808"/>
          </a:xfrm>
          <a:prstGeom prst="roundRect">
            <a:avLst/>
          </a:prstGeom>
          <a:solidFill>
            <a:srgbClr val="E7F6EE"/>
          </a:solidFill>
          <a:ln w="9525">
            <a:solidFill>
              <a:srgbClr val="0F9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(2)RAG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D58"/>
                </a:solidFill>
                <a:latin typeface="Malgun Gothic"/>
              </a:rPr>
              <a:t>BGE-m3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3738" y="2084832"/>
            <a:ext cx="91440" cy="749808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470"/>
                </a:solidFill>
                <a:latin typeface="Malgun Gothic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7746" y="2084832"/>
            <a:ext cx="1120793" cy="749808"/>
          </a:xfrm>
          <a:prstGeom prst="roundRect">
            <a:avLst/>
          </a:prstGeom>
          <a:solidFill>
            <a:srgbClr val="EEF1F5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(3)룰엔진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0"/>
                </a:solidFill>
                <a:latin typeface="Malgun Gothic"/>
              </a:rPr>
              <a:t>결정적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0251" y="2084832"/>
            <a:ext cx="91440" cy="749808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470"/>
                </a:solidFill>
                <a:latin typeface="Malgun Gothic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74259" y="2084832"/>
            <a:ext cx="1120793" cy="749808"/>
          </a:xfrm>
          <a:prstGeom prst="roundRect">
            <a:avLst/>
          </a:prstGeom>
          <a:solidFill>
            <a:srgbClr val="EFEAFF"/>
          </a:solidFill>
          <a:ln w="9525">
            <a:solidFill>
              <a:srgbClr val="5B3B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(4)LLM심의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3BBF"/>
                </a:solidFill>
                <a:latin typeface="Malgun Gothic"/>
              </a:rPr>
              <a:t>Ollama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6764" y="2084832"/>
            <a:ext cx="91440" cy="749808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470"/>
                </a:solidFill>
                <a:latin typeface="Malgun Gothic"/>
              </a:rP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0772" y="2084832"/>
            <a:ext cx="1120793" cy="749808"/>
          </a:xfrm>
          <a:prstGeom prst="roundRect">
            <a:avLst/>
          </a:prstGeom>
          <a:solidFill>
            <a:srgbClr val="EFEAFF"/>
          </a:solidFill>
          <a:ln w="9525">
            <a:solidFill>
              <a:srgbClr val="5B3B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(5)시뮬레이터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3BBF"/>
                </a:solidFill>
                <a:latin typeface="Malgun Gothic"/>
              </a:rPr>
              <a:t>Ollama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3277" y="2084832"/>
            <a:ext cx="91440" cy="749808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470"/>
                </a:solidFill>
                <a:latin typeface="Malgun Gothic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07285" y="2084832"/>
            <a:ext cx="1120793" cy="749808"/>
          </a:xfrm>
          <a:prstGeom prst="roundRect">
            <a:avLst/>
          </a:prstGeom>
          <a:solidFill>
            <a:srgbClr val="EEF1F5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(6)리포트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0"/>
                </a:solidFill>
                <a:latin typeface="Malgun Gothic"/>
              </a:rPr>
              <a:t>결정적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09790" y="2084832"/>
            <a:ext cx="91440" cy="749808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B6470"/>
                </a:solidFill>
                <a:latin typeface="Malgun Gothic"/>
              </a:rP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73798" y="2084832"/>
            <a:ext cx="1120793" cy="749808"/>
          </a:xfrm>
          <a:prstGeom prst="roundRect">
            <a:avLst/>
          </a:prstGeom>
          <a:solidFill>
            <a:srgbClr val="EEF1F5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(7,8)승인·감사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" b="0">
                <a:solidFill>
                  <a:srgbClr val="1A1D21"/>
                </a:solidFill>
                <a:latin typeface="Malgun Gothic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0"/>
                </a:solidFill>
                <a:latin typeface="Malgun Gothic"/>
              </a:rPr>
              <a:t>결정적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50069" y="3182112"/>
            <a:ext cx="2103120" cy="603504"/>
          </a:xfrm>
          <a:prstGeom prst="roundRect">
            <a:avLst/>
          </a:prstGeom>
          <a:solidFill>
            <a:srgbClr val="E7F6EE"/>
          </a:solidFill>
          <a:ln w="15875">
            <a:solidFill>
              <a:srgbClr val="0F9D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ge_h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797" y="3300984"/>
            <a:ext cx="365760" cy="3657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98709" y="3182112"/>
            <a:ext cx="1481328" cy="603504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9D58"/>
                </a:solidFill>
                <a:latin typeface="Malgun Gothic"/>
              </a:rPr>
              <a:t>BGE-m3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470"/>
                </a:solidFill>
                <a:latin typeface="Malgun Gothic"/>
              </a:rPr>
              <a:t>임베딩 (HuggingFace)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5201629" y="2834640"/>
            <a:ext cx="0" cy="347472"/>
          </a:xfrm>
          <a:prstGeom prst="line">
            <a:avLst/>
          </a:prstGeom>
          <a:ln w="25400">
            <a:solidFill>
              <a:srgbClr val="0F9D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837751" y="3182112"/>
            <a:ext cx="2560320" cy="603504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5B3B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ol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479" y="3282696"/>
            <a:ext cx="402336" cy="4023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422967" y="3182112"/>
            <a:ext cx="1901952" cy="603504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3BBF"/>
                </a:solidFill>
                <a:latin typeface="Malgun Gothic"/>
              </a:rPr>
              <a:t>Ollama · Qwen2.5-7B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B6470"/>
                </a:solidFill>
                <a:latin typeface="Malgun Gothic"/>
              </a:rPr>
              <a:t>LLM 추론 (온프레미스)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7534655" y="2834640"/>
            <a:ext cx="308936" cy="347472"/>
          </a:xfrm>
          <a:prstGeom prst="line">
            <a:avLst/>
          </a:prstGeom>
          <a:ln w="25400">
            <a:solidFill>
              <a:srgbClr val="5B3B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392231" y="2834640"/>
            <a:ext cx="308937" cy="347472"/>
          </a:xfrm>
          <a:prstGeom prst="line">
            <a:avLst/>
          </a:prstGeom>
          <a:ln w="25400">
            <a:solidFill>
              <a:srgbClr val="5B3B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 descr="autopi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950208"/>
            <a:ext cx="384048" cy="3840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931920" y="3968496"/>
            <a:ext cx="7662672" cy="256032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B3BBF"/>
                </a:solidFill>
                <a:latin typeface="Malgun Gothic"/>
              </a:rPr>
              <a:t>준법 오토파일럿</a:t>
            </a:r>
            <a:r>
              <a:rPr sz="950" b="0">
                <a:solidFill>
                  <a:srgbClr val="5B6470"/>
                </a:solidFill>
                <a:latin typeface="Malgun Gothic"/>
              </a:rPr>
              <a:t> - 위반 초안을 통과까지 자율 개선 (Ollama 기반)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74720" y="4334256"/>
            <a:ext cx="1714500" cy="548640"/>
          </a:xfrm>
          <a:prstGeom prst="roundRect">
            <a:avLst/>
          </a:prstGeom>
          <a:solidFill>
            <a:srgbClr val="EEF1F5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① 심의·점수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244084" y="4480560"/>
            <a:ext cx="274320" cy="256032"/>
          </a:xfrm>
          <a:prstGeom prst="right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609844" y="4334256"/>
            <a:ext cx="1714500" cy="548640"/>
          </a:xfrm>
          <a:prstGeom prst="roundRect">
            <a:avLst/>
          </a:prstGeom>
          <a:solidFill>
            <a:srgbClr val="EFEAFF"/>
          </a:solidFill>
          <a:ln w="9525">
            <a:solidFill>
              <a:srgbClr val="5B3B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3BBF"/>
                </a:solidFill>
                <a:latin typeface="Malgun Gothic"/>
              </a:rPr>
              <a:t>② LLM 고쳐쓰기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379208" y="4480560"/>
            <a:ext cx="274320" cy="256032"/>
          </a:xfrm>
          <a:prstGeom prst="right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44968" y="4334256"/>
            <a:ext cx="1714500" cy="548640"/>
          </a:xfrm>
          <a:prstGeom prst="roundRect">
            <a:avLst/>
          </a:prstGeom>
          <a:solidFill>
            <a:srgbClr val="EEF1F5"/>
          </a:solidFill>
          <a:ln w="9525">
            <a:solidFill>
              <a:srgbClr val="6B74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1D21"/>
                </a:solidFill>
                <a:latin typeface="Malgun Gothic"/>
              </a:rPr>
              <a:t>③ 재심의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9514332" y="4480560"/>
            <a:ext cx="274320" cy="256032"/>
          </a:xfrm>
          <a:prstGeom prst="right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880092" y="4334256"/>
            <a:ext cx="1714500" cy="548640"/>
          </a:xfrm>
          <a:prstGeom prst="roundRect">
            <a:avLst/>
          </a:prstGeom>
          <a:solidFill>
            <a:srgbClr val="E9EEF5"/>
          </a:solidFill>
          <a:ln w="9525">
            <a:solidFill>
              <a:srgbClr val="003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3A6E"/>
                </a:solidFill>
                <a:latin typeface="Malgun Gothic"/>
              </a:rPr>
              <a:t>④ 통과 / 미수렴-&gt;사람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602218" y="4882896"/>
            <a:ext cx="0" cy="128016"/>
          </a:xfrm>
          <a:prstGeom prst="line">
            <a:avLst/>
          </a:prstGeom>
          <a:ln w="22225">
            <a:solidFill>
              <a:srgbClr val="5B3B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6467094" y="5010912"/>
            <a:ext cx="2135124" cy="0"/>
          </a:xfrm>
          <a:prstGeom prst="line">
            <a:avLst/>
          </a:prstGeom>
          <a:ln w="22225">
            <a:solidFill>
              <a:srgbClr val="5B3B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467094" y="4882896"/>
            <a:ext cx="0" cy="128016"/>
          </a:xfrm>
          <a:prstGeom prst="line">
            <a:avLst/>
          </a:prstGeom>
          <a:ln w="22225">
            <a:solidFill>
              <a:srgbClr val="5B3BB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009894" y="4974336"/>
            <a:ext cx="3049524" cy="219456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3BBF"/>
                </a:solidFill>
                <a:latin typeface="Malgun Gothic"/>
              </a:rPr>
              <a:t>미통과 시 (2)~(3) 반복 (통과까지)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5358384" y="5349240"/>
            <a:ext cx="256032" cy="274320"/>
          </a:xfrm>
          <a:prstGeom prst="down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0" y="5349240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6470"/>
                </a:solidFill>
                <a:latin typeface="Malgun Gothic"/>
              </a:rPr>
              <a:t>조회·기록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10296144" y="5349240"/>
            <a:ext cx="256032" cy="274320"/>
          </a:xfrm>
          <a:prstGeom prst="downArrow">
            <a:avLst/>
          </a:prstGeom>
          <a:solidFill>
            <a:srgbClr val="8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07040" y="5349240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6470"/>
                </a:solidFill>
                <a:latin typeface="Malgun Gothic"/>
              </a:rPr>
              <a:t>연동</a:t>
            </a:r>
          </a:p>
        </p:txBody>
      </p:sp>
      <p:sp>
        <p:nvSpPr>
          <p:cNvPr id="61" name="Can 60"/>
          <p:cNvSpPr/>
          <p:nvPr/>
        </p:nvSpPr>
        <p:spPr>
          <a:xfrm>
            <a:off x="4206240" y="5650992"/>
            <a:ext cx="1645920" cy="1024128"/>
          </a:xfrm>
          <a:prstGeom prst="can">
            <a:avLst/>
          </a:prstGeom>
          <a:solidFill>
            <a:srgbClr val="00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SQLite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FE6F0"/>
                </a:solidFill>
                <a:latin typeface="Malgun Gothic"/>
              </a:rPr>
              <a:t>승인·감사로그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FE6F0"/>
                </a:solidFill>
                <a:latin typeface="Malgun Gothic"/>
              </a:rPr>
              <a:t>내규·배포</a:t>
            </a:r>
          </a:p>
        </p:txBody>
      </p:sp>
      <p:sp>
        <p:nvSpPr>
          <p:cNvPr id="62" name="Can 61"/>
          <p:cNvSpPr/>
          <p:nvPr/>
        </p:nvSpPr>
        <p:spPr>
          <a:xfrm>
            <a:off x="6035040" y="5650992"/>
            <a:ext cx="1645920" cy="1024128"/>
          </a:xfrm>
          <a:prstGeom prst="can">
            <a:avLst/>
          </a:prstGeom>
          <a:solidFill>
            <a:srgbClr val="2A6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</a:rPr>
              <a:t>규제 KB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FE6F0"/>
                </a:solidFill>
                <a:latin typeface="Malgun Gothic"/>
              </a:rPr>
              <a:t>regulations.json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FE6F0"/>
                </a:solidFill>
                <a:latin typeface="Malgun Gothic"/>
              </a:rPr>
              <a:t>rules.yaml</a:t>
            </a:r>
          </a:p>
        </p:txBody>
      </p:sp>
      <p:sp>
        <p:nvSpPr>
          <p:cNvPr id="63" name="Cloud 62"/>
          <p:cNvSpPr/>
          <p:nvPr/>
        </p:nvSpPr>
        <p:spPr>
          <a:xfrm>
            <a:off x="9235440" y="5532120"/>
            <a:ext cx="2542032" cy="1234440"/>
          </a:xfrm>
          <a:prstGeom prst="cloud">
            <a:avLst/>
          </a:prstGeom>
          <a:solidFill>
            <a:srgbClr val="FFF7E6"/>
          </a:solidFill>
          <a:ln w="15875">
            <a:solidFill>
              <a:srgbClr val="C78A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5650992"/>
            <a:ext cx="2542032" cy="219456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6200"/>
                </a:solidFill>
                <a:latin typeface="Malgun Gothic"/>
              </a:rPr>
              <a:t>외부 연동 (어댑터)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588873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4E00"/>
                </a:solidFill>
                <a:latin typeface="Malgun Gothic"/>
              </a:rPr>
              <a:t>법제처 OpenAPI  </a:t>
            </a:r>
            <a:r>
              <a:rPr sz="850" b="1">
                <a:solidFill>
                  <a:srgbClr val="C78A06"/>
                </a:solidFill>
                <a:latin typeface="Malgun Gothic"/>
              </a:rPr>
              <a:t>F14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6135624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4E00"/>
                </a:solidFill>
                <a:latin typeface="Malgun Gothic"/>
              </a:rPr>
              <a:t>FCM·SNS·알림톡  </a:t>
            </a:r>
            <a:r>
              <a:rPr sz="850" b="1">
                <a:solidFill>
                  <a:srgbClr val="C78A06"/>
                </a:solidFill>
                <a:latin typeface="Malgun Gothic"/>
              </a:rPr>
              <a:t>F15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638251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4E00"/>
                </a:solidFill>
                <a:latin typeface="Malgun Gothic"/>
              </a:rPr>
              <a:t>코어뱅킹 API  </a:t>
            </a:r>
            <a:r>
              <a:rPr sz="850" b="1">
                <a:solidFill>
                  <a:srgbClr val="C78A06"/>
                </a:solidFill>
                <a:latin typeface="Malgun Gothic"/>
              </a:rPr>
              <a:t>F16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